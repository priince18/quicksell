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4" r:id="rId9"/>
    <p:sldId id="265" r:id="rId10"/>
  </p:sldIdLst>
  <p:sldSz cx="18288000" cy="10287000"/>
  <p:notesSz cx="6858000" cy="9144000"/>
  <p:embeddedFontLst>
    <p:embeddedFont>
      <p:font typeface="Quattrocento" panose="02020502030000000404" pitchFamily="18" charset="0"/>
      <p:regular r:id="rId11"/>
    </p:embeddedFont>
    <p:embeddedFont>
      <p:font typeface="Quattrocento Bold" panose="02020802030000000404" charset="0"/>
      <p:regular r:id="rId1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2" d="100"/>
          <a:sy n="52" d="100"/>
        </p:scale>
        <p:origin x="850" y="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C4241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16049019" y="9686925"/>
            <a:ext cx="2153256" cy="514350"/>
            <a:chOff x="0" y="0"/>
            <a:chExt cx="2871008" cy="685800"/>
          </a:xfrm>
        </p:grpSpPr>
        <p:sp>
          <p:nvSpPr>
            <p:cNvPr id="7" name="Freeform 7" descr="preencoded.png">
              <a:hlinkClick r:id="rId2" tooltip="https://gamma.app/?utm_source=made-with-gamma"/>
            </p:cNvPr>
            <p:cNvSpPr/>
            <p:nvPr/>
          </p:nvSpPr>
          <p:spPr>
            <a:xfrm>
              <a:off x="0" y="0"/>
              <a:ext cx="2870962" cy="685800"/>
            </a:xfrm>
            <a:custGeom>
              <a:avLst/>
              <a:gdLst/>
              <a:ahLst/>
              <a:cxnLst/>
              <a:rect l="l" t="t" r="r" b="b"/>
              <a:pathLst>
                <a:path w="2870962" h="685800">
                  <a:moveTo>
                    <a:pt x="0" y="0"/>
                  </a:moveTo>
                  <a:lnTo>
                    <a:pt x="2870962" y="0"/>
                  </a:lnTo>
                  <a:lnTo>
                    <a:pt x="2870962" y="685800"/>
                  </a:lnTo>
                  <a:lnTo>
                    <a:pt x="0" y="685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r="-1"/>
              </a:stretch>
            </a:blipFill>
          </p:spPr>
        </p:sp>
      </p:grpSp>
      <p:grpSp>
        <p:nvGrpSpPr>
          <p:cNvPr id="8" name="Group 8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9" name="Freeform 9" descr="preencoded.png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</p:sp>
      </p:grpSp>
      <p:grpSp>
        <p:nvGrpSpPr>
          <p:cNvPr id="10" name="Group 10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00000">
                <a:alpha val="63922"/>
              </a:srgbClr>
            </a:solidFill>
          </p:spPr>
        </p:sp>
      </p:grpSp>
      <p:sp>
        <p:nvSpPr>
          <p:cNvPr id="12" name="Freeform 12"/>
          <p:cNvSpPr/>
          <p:nvPr/>
        </p:nvSpPr>
        <p:spPr>
          <a:xfrm>
            <a:off x="15367609" y="0"/>
            <a:ext cx="2920391" cy="516468"/>
          </a:xfrm>
          <a:custGeom>
            <a:avLst/>
            <a:gdLst/>
            <a:ahLst/>
            <a:cxnLst/>
            <a:rect l="l" t="t" r="r" b="b"/>
            <a:pathLst>
              <a:path w="2920391" h="516468">
                <a:moveTo>
                  <a:pt x="0" y="0"/>
                </a:moveTo>
                <a:lnTo>
                  <a:pt x="2920391" y="0"/>
                </a:lnTo>
                <a:lnTo>
                  <a:pt x="2920391" y="516468"/>
                </a:lnTo>
                <a:lnTo>
                  <a:pt x="0" y="51646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>
            <a:off x="0" y="0"/>
            <a:ext cx="494849" cy="516468"/>
          </a:xfrm>
          <a:custGeom>
            <a:avLst/>
            <a:gdLst/>
            <a:ahLst/>
            <a:cxnLst/>
            <a:rect l="l" t="t" r="r" b="b"/>
            <a:pathLst>
              <a:path w="494849" h="516468">
                <a:moveTo>
                  <a:pt x="0" y="0"/>
                </a:moveTo>
                <a:lnTo>
                  <a:pt x="494849" y="0"/>
                </a:lnTo>
                <a:lnTo>
                  <a:pt x="494849" y="516468"/>
                </a:lnTo>
                <a:lnTo>
                  <a:pt x="0" y="51646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b="-1341"/>
            </a:stretch>
          </a:blipFill>
        </p:spPr>
      </p:sp>
      <p:sp>
        <p:nvSpPr>
          <p:cNvPr id="14" name="TextBox 14"/>
          <p:cNvSpPr txBox="1"/>
          <p:nvPr/>
        </p:nvSpPr>
        <p:spPr>
          <a:xfrm>
            <a:off x="5623620" y="3634680"/>
            <a:ext cx="7040612" cy="9085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875"/>
              </a:lnSpc>
            </a:pPr>
            <a:r>
              <a:rPr lang="en-US" sz="5500">
                <a:solidFill>
                  <a:srgbClr val="EF9C82"/>
                </a:solidFill>
                <a:latin typeface="Quattrocento"/>
                <a:ea typeface="Quattrocento"/>
                <a:cs typeface="Quattrocento"/>
                <a:sym typeface="Quattrocento"/>
              </a:rPr>
              <a:t>QuickSell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4814292" y="4963417"/>
            <a:ext cx="8659266" cy="7326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500"/>
              </a:lnSpc>
            </a:pPr>
            <a:r>
              <a:rPr lang="en-US" sz="4375">
                <a:solidFill>
                  <a:srgbClr val="FFD9BE"/>
                </a:solidFill>
                <a:latin typeface="Quattrocento"/>
                <a:ea typeface="Quattrocento"/>
                <a:cs typeface="Quattrocento"/>
                <a:sym typeface="Quattrocento"/>
              </a:rPr>
              <a:t>Your Seamless Buy &amp; Sell Platform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047155" y="6049566"/>
            <a:ext cx="16193690" cy="438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50"/>
              </a:lnSpc>
            </a:pPr>
            <a:r>
              <a:rPr lang="en-US" sz="2312">
                <a:solidFill>
                  <a:srgbClr val="F9EEE7"/>
                </a:solidFill>
                <a:latin typeface="Quattrocento"/>
                <a:ea typeface="Quattrocento"/>
                <a:cs typeface="Quattrocento"/>
                <a:sym typeface="Quattrocento"/>
              </a:rPr>
              <a:t>A MERN Stack Project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C4241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133691" y="184271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23332"/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714640" y="1750440"/>
            <a:ext cx="4822599" cy="2376447"/>
            <a:chOff x="0" y="0"/>
            <a:chExt cx="9802145" cy="4830233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9802136" cy="4830313"/>
            </a:xfrm>
            <a:custGeom>
              <a:avLst/>
              <a:gdLst/>
              <a:ahLst/>
              <a:cxnLst/>
              <a:rect l="l" t="t" r="r" b="b"/>
              <a:pathLst>
                <a:path w="9802136" h="4830313">
                  <a:moveTo>
                    <a:pt x="0" y="64337"/>
                  </a:moveTo>
                  <a:cubicBezTo>
                    <a:pt x="0" y="28722"/>
                    <a:pt x="23474" y="0"/>
                    <a:pt x="52582" y="0"/>
                  </a:cubicBezTo>
                  <a:lnTo>
                    <a:pt x="9749554" y="0"/>
                  </a:lnTo>
                  <a:cubicBezTo>
                    <a:pt x="9778544" y="0"/>
                    <a:pt x="9802136" y="28722"/>
                    <a:pt x="9802136" y="64337"/>
                  </a:cubicBezTo>
                  <a:lnTo>
                    <a:pt x="9802136" y="4765987"/>
                  </a:lnTo>
                  <a:cubicBezTo>
                    <a:pt x="9802136" y="4801458"/>
                    <a:pt x="9778662" y="4830313"/>
                    <a:pt x="9749554" y="4830313"/>
                  </a:cubicBezTo>
                  <a:lnTo>
                    <a:pt x="52582" y="4830313"/>
                  </a:lnTo>
                  <a:cubicBezTo>
                    <a:pt x="23592" y="4830313"/>
                    <a:pt x="0" y="4801602"/>
                    <a:pt x="0" y="4765987"/>
                  </a:cubicBezTo>
                  <a:close/>
                </a:path>
              </a:pathLst>
            </a:custGeom>
            <a:solidFill>
              <a:srgbClr val="315251"/>
            </a:solidFill>
          </p:spPr>
        </p:sp>
      </p:grpSp>
      <p:sp>
        <p:nvSpPr>
          <p:cNvPr id="8" name="TextBox 8"/>
          <p:cNvSpPr txBox="1"/>
          <p:nvPr/>
        </p:nvSpPr>
        <p:spPr>
          <a:xfrm>
            <a:off x="892034" y="1721865"/>
            <a:ext cx="4417127" cy="463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07"/>
              </a:lnSpc>
            </a:pPr>
            <a:r>
              <a:rPr lang="en-US" sz="2869" dirty="0">
                <a:solidFill>
                  <a:srgbClr val="EF9C82"/>
                </a:solidFill>
                <a:latin typeface="Quattrocento"/>
                <a:ea typeface="Quattrocento"/>
                <a:cs typeface="Quattrocento"/>
                <a:sym typeface="Quattrocento"/>
              </a:rPr>
              <a:t>Name</a:t>
            </a:r>
            <a:r>
              <a:rPr lang="en-US" sz="2869" dirty="0">
                <a:solidFill>
                  <a:srgbClr val="FFD9BE"/>
                </a:solidFill>
                <a:latin typeface="Quattrocento"/>
                <a:ea typeface="Quattrocento"/>
                <a:cs typeface="Quattrocento"/>
                <a:sym typeface="Quattrocento"/>
              </a:rPr>
              <a:t> : MILAN VEKAIYA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892034" y="2207152"/>
            <a:ext cx="4771915" cy="463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07"/>
              </a:lnSpc>
            </a:pPr>
            <a:r>
              <a:rPr lang="en-US" sz="2869" dirty="0">
                <a:solidFill>
                  <a:srgbClr val="EF9C82"/>
                </a:solidFill>
                <a:latin typeface="Quattrocento"/>
                <a:ea typeface="Quattrocento"/>
                <a:cs typeface="Quattrocento"/>
                <a:sym typeface="Quattrocento"/>
              </a:rPr>
              <a:t>Enroll no. </a:t>
            </a:r>
            <a:r>
              <a:rPr lang="en-US" sz="2869" dirty="0">
                <a:solidFill>
                  <a:srgbClr val="FFD9BE"/>
                </a:solidFill>
                <a:latin typeface="Quattrocento"/>
                <a:ea typeface="Quattrocento"/>
                <a:cs typeface="Quattrocento"/>
                <a:sym typeface="Quattrocento"/>
              </a:rPr>
              <a:t>: 23002170210133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892034" y="2692439"/>
            <a:ext cx="2005828" cy="463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07"/>
              </a:lnSpc>
            </a:pPr>
            <a:r>
              <a:rPr lang="en-US" sz="2869">
                <a:solidFill>
                  <a:srgbClr val="EF9C82"/>
                </a:solidFill>
                <a:latin typeface="Quattrocento"/>
                <a:ea typeface="Quattrocento"/>
                <a:cs typeface="Quattrocento"/>
                <a:sym typeface="Quattrocento"/>
              </a:rPr>
              <a:t>Branch</a:t>
            </a:r>
            <a:r>
              <a:rPr lang="en-US" sz="2869">
                <a:solidFill>
                  <a:srgbClr val="FFD9BE"/>
                </a:solidFill>
                <a:latin typeface="Quattrocento"/>
                <a:ea typeface="Quattrocento"/>
                <a:cs typeface="Quattrocento"/>
                <a:sym typeface="Quattrocento"/>
              </a:rPr>
              <a:t> : IT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892034" y="3177726"/>
            <a:ext cx="1498988" cy="463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07"/>
              </a:lnSpc>
            </a:pPr>
            <a:r>
              <a:rPr lang="en-US" sz="2869">
                <a:solidFill>
                  <a:srgbClr val="EF9C82"/>
                </a:solidFill>
                <a:latin typeface="Quattrocento"/>
                <a:ea typeface="Quattrocento"/>
                <a:cs typeface="Quattrocento"/>
                <a:sym typeface="Quattrocento"/>
              </a:rPr>
              <a:t>Div </a:t>
            </a:r>
            <a:r>
              <a:rPr lang="en-US" sz="2869">
                <a:solidFill>
                  <a:srgbClr val="FFD9BE"/>
                </a:solidFill>
                <a:latin typeface="Quattrocento"/>
                <a:ea typeface="Quattrocento"/>
                <a:cs typeface="Quattrocento"/>
                <a:sym typeface="Quattrocento"/>
              </a:rPr>
              <a:t>: C2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892034" y="3663012"/>
            <a:ext cx="2005828" cy="463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07"/>
              </a:lnSpc>
            </a:pPr>
            <a:r>
              <a:rPr lang="en-US" sz="2869">
                <a:solidFill>
                  <a:srgbClr val="EF9C82"/>
                </a:solidFill>
                <a:latin typeface="Quattrocento"/>
                <a:ea typeface="Quattrocento"/>
                <a:cs typeface="Quattrocento"/>
                <a:sym typeface="Quattrocento"/>
              </a:rPr>
              <a:t>Roll no. </a:t>
            </a:r>
            <a:r>
              <a:rPr lang="en-US" sz="2869">
                <a:solidFill>
                  <a:srgbClr val="FFD9BE"/>
                </a:solidFill>
                <a:latin typeface="Quattrocento"/>
                <a:ea typeface="Quattrocento"/>
                <a:cs typeface="Quattrocento"/>
                <a:sym typeface="Quattrocento"/>
              </a:rPr>
              <a:t>: 36</a:t>
            </a:r>
          </a:p>
        </p:txBody>
      </p:sp>
      <p:grpSp>
        <p:nvGrpSpPr>
          <p:cNvPr id="13" name="Group 13"/>
          <p:cNvGrpSpPr/>
          <p:nvPr/>
        </p:nvGrpSpPr>
        <p:grpSpPr>
          <a:xfrm>
            <a:off x="6714340" y="1750440"/>
            <a:ext cx="4822599" cy="2376447"/>
            <a:chOff x="0" y="0"/>
            <a:chExt cx="9802145" cy="4830233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9802136" cy="4830313"/>
            </a:xfrm>
            <a:custGeom>
              <a:avLst/>
              <a:gdLst/>
              <a:ahLst/>
              <a:cxnLst/>
              <a:rect l="l" t="t" r="r" b="b"/>
              <a:pathLst>
                <a:path w="9802136" h="4830313">
                  <a:moveTo>
                    <a:pt x="0" y="64337"/>
                  </a:moveTo>
                  <a:cubicBezTo>
                    <a:pt x="0" y="28722"/>
                    <a:pt x="23474" y="0"/>
                    <a:pt x="52582" y="0"/>
                  </a:cubicBezTo>
                  <a:lnTo>
                    <a:pt x="9749554" y="0"/>
                  </a:lnTo>
                  <a:cubicBezTo>
                    <a:pt x="9778544" y="0"/>
                    <a:pt x="9802136" y="28722"/>
                    <a:pt x="9802136" y="64337"/>
                  </a:cubicBezTo>
                  <a:lnTo>
                    <a:pt x="9802136" y="4765987"/>
                  </a:lnTo>
                  <a:cubicBezTo>
                    <a:pt x="9802136" y="4801458"/>
                    <a:pt x="9778662" y="4830313"/>
                    <a:pt x="9749554" y="4830313"/>
                  </a:cubicBezTo>
                  <a:lnTo>
                    <a:pt x="52582" y="4830313"/>
                  </a:lnTo>
                  <a:cubicBezTo>
                    <a:pt x="23592" y="4830313"/>
                    <a:pt x="0" y="4801602"/>
                    <a:pt x="0" y="4765987"/>
                  </a:cubicBezTo>
                  <a:close/>
                </a:path>
              </a:pathLst>
            </a:custGeom>
            <a:solidFill>
              <a:srgbClr val="315251"/>
            </a:solidFill>
          </p:spPr>
        </p:sp>
      </p:grpSp>
      <p:sp>
        <p:nvSpPr>
          <p:cNvPr id="15" name="TextBox 15"/>
          <p:cNvSpPr txBox="1"/>
          <p:nvPr/>
        </p:nvSpPr>
        <p:spPr>
          <a:xfrm>
            <a:off x="6891734" y="1721865"/>
            <a:ext cx="4417127" cy="463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07"/>
              </a:lnSpc>
            </a:pPr>
            <a:r>
              <a:rPr lang="en-US" sz="2869">
                <a:solidFill>
                  <a:srgbClr val="EF9C82"/>
                </a:solidFill>
                <a:latin typeface="Quattrocento"/>
                <a:ea typeface="Quattrocento"/>
                <a:cs typeface="Quattrocento"/>
                <a:sym typeface="Quattrocento"/>
              </a:rPr>
              <a:t>Name</a:t>
            </a:r>
            <a:r>
              <a:rPr lang="en-US" sz="2869">
                <a:solidFill>
                  <a:srgbClr val="FFD9BE"/>
                </a:solidFill>
                <a:latin typeface="Quattrocento"/>
                <a:ea typeface="Quattrocento"/>
                <a:cs typeface="Quattrocento"/>
                <a:sym typeface="Quattrocento"/>
              </a:rPr>
              <a:t> : YOGESH CHAVDA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6891734" y="2207152"/>
            <a:ext cx="4771915" cy="463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07"/>
              </a:lnSpc>
            </a:pPr>
            <a:r>
              <a:rPr lang="en-US" sz="2869">
                <a:solidFill>
                  <a:srgbClr val="EF9C82"/>
                </a:solidFill>
                <a:latin typeface="Quattrocento"/>
                <a:ea typeface="Quattrocento"/>
                <a:cs typeface="Quattrocento"/>
                <a:sym typeface="Quattrocento"/>
              </a:rPr>
              <a:t>Enroll no. </a:t>
            </a:r>
            <a:r>
              <a:rPr lang="en-US" sz="2869">
                <a:solidFill>
                  <a:srgbClr val="FFD9BE"/>
                </a:solidFill>
                <a:latin typeface="Quattrocento"/>
                <a:ea typeface="Quattrocento"/>
                <a:cs typeface="Quattrocento"/>
                <a:sym typeface="Quattrocento"/>
              </a:rPr>
              <a:t>: 23002170210136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6891734" y="2692439"/>
            <a:ext cx="2005828" cy="463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07"/>
              </a:lnSpc>
            </a:pPr>
            <a:r>
              <a:rPr lang="en-US" sz="2869">
                <a:solidFill>
                  <a:srgbClr val="EF9C82"/>
                </a:solidFill>
                <a:latin typeface="Quattrocento"/>
                <a:ea typeface="Quattrocento"/>
                <a:cs typeface="Quattrocento"/>
                <a:sym typeface="Quattrocento"/>
              </a:rPr>
              <a:t>Branch</a:t>
            </a:r>
            <a:r>
              <a:rPr lang="en-US" sz="2869">
                <a:solidFill>
                  <a:srgbClr val="FFD9BE"/>
                </a:solidFill>
                <a:latin typeface="Quattrocento"/>
                <a:ea typeface="Quattrocento"/>
                <a:cs typeface="Quattrocento"/>
                <a:sym typeface="Quattrocento"/>
              </a:rPr>
              <a:t> : IT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6891734" y="3177726"/>
            <a:ext cx="1498988" cy="463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07"/>
              </a:lnSpc>
            </a:pPr>
            <a:r>
              <a:rPr lang="en-US" sz="2869">
                <a:solidFill>
                  <a:srgbClr val="EF9C82"/>
                </a:solidFill>
                <a:latin typeface="Quattrocento"/>
                <a:ea typeface="Quattrocento"/>
                <a:cs typeface="Quattrocento"/>
                <a:sym typeface="Quattrocento"/>
              </a:rPr>
              <a:t>Div </a:t>
            </a:r>
            <a:r>
              <a:rPr lang="en-US" sz="2869">
                <a:solidFill>
                  <a:srgbClr val="FFD9BE"/>
                </a:solidFill>
                <a:latin typeface="Quattrocento"/>
                <a:ea typeface="Quattrocento"/>
                <a:cs typeface="Quattrocento"/>
                <a:sym typeface="Quattrocento"/>
              </a:rPr>
              <a:t>: C2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6891734" y="3663012"/>
            <a:ext cx="2005828" cy="463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07"/>
              </a:lnSpc>
            </a:pPr>
            <a:r>
              <a:rPr lang="en-US" sz="2869">
                <a:solidFill>
                  <a:srgbClr val="EF9C82"/>
                </a:solidFill>
                <a:latin typeface="Quattrocento"/>
                <a:ea typeface="Quattrocento"/>
                <a:cs typeface="Quattrocento"/>
                <a:sym typeface="Quattrocento"/>
              </a:rPr>
              <a:t>Roll no. </a:t>
            </a:r>
            <a:r>
              <a:rPr lang="en-US" sz="2869">
                <a:solidFill>
                  <a:srgbClr val="FFD9BE"/>
                </a:solidFill>
                <a:latin typeface="Quattrocento"/>
                <a:ea typeface="Quattrocento"/>
                <a:cs typeface="Quattrocento"/>
                <a:sym typeface="Quattrocento"/>
              </a:rPr>
              <a:t>: 39</a:t>
            </a:r>
          </a:p>
        </p:txBody>
      </p:sp>
      <p:grpSp>
        <p:nvGrpSpPr>
          <p:cNvPr id="20" name="Group 20"/>
          <p:cNvGrpSpPr/>
          <p:nvPr/>
        </p:nvGrpSpPr>
        <p:grpSpPr>
          <a:xfrm>
            <a:off x="12714040" y="1750440"/>
            <a:ext cx="4822599" cy="2376447"/>
            <a:chOff x="0" y="0"/>
            <a:chExt cx="9802145" cy="4830233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9802136" cy="4830313"/>
            </a:xfrm>
            <a:custGeom>
              <a:avLst/>
              <a:gdLst/>
              <a:ahLst/>
              <a:cxnLst/>
              <a:rect l="l" t="t" r="r" b="b"/>
              <a:pathLst>
                <a:path w="9802136" h="4830313">
                  <a:moveTo>
                    <a:pt x="0" y="64337"/>
                  </a:moveTo>
                  <a:cubicBezTo>
                    <a:pt x="0" y="28722"/>
                    <a:pt x="23474" y="0"/>
                    <a:pt x="52582" y="0"/>
                  </a:cubicBezTo>
                  <a:lnTo>
                    <a:pt x="9749554" y="0"/>
                  </a:lnTo>
                  <a:cubicBezTo>
                    <a:pt x="9778544" y="0"/>
                    <a:pt x="9802136" y="28722"/>
                    <a:pt x="9802136" y="64337"/>
                  </a:cubicBezTo>
                  <a:lnTo>
                    <a:pt x="9802136" y="4765987"/>
                  </a:lnTo>
                  <a:cubicBezTo>
                    <a:pt x="9802136" y="4801458"/>
                    <a:pt x="9778662" y="4830313"/>
                    <a:pt x="9749554" y="4830313"/>
                  </a:cubicBezTo>
                  <a:lnTo>
                    <a:pt x="52582" y="4830313"/>
                  </a:lnTo>
                  <a:cubicBezTo>
                    <a:pt x="23592" y="4830313"/>
                    <a:pt x="0" y="4801602"/>
                    <a:pt x="0" y="4765987"/>
                  </a:cubicBezTo>
                  <a:close/>
                </a:path>
              </a:pathLst>
            </a:custGeom>
            <a:solidFill>
              <a:srgbClr val="315251"/>
            </a:solidFill>
          </p:spPr>
        </p:sp>
      </p:grpSp>
      <p:sp>
        <p:nvSpPr>
          <p:cNvPr id="22" name="TextBox 22"/>
          <p:cNvSpPr txBox="1"/>
          <p:nvPr/>
        </p:nvSpPr>
        <p:spPr>
          <a:xfrm>
            <a:off x="12891433" y="1721865"/>
            <a:ext cx="4417127" cy="463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07"/>
              </a:lnSpc>
            </a:pPr>
            <a:r>
              <a:rPr lang="en-US" sz="2869">
                <a:solidFill>
                  <a:srgbClr val="EF9C82"/>
                </a:solidFill>
                <a:latin typeface="Quattrocento"/>
                <a:ea typeface="Quattrocento"/>
                <a:cs typeface="Quattrocento"/>
                <a:sym typeface="Quattrocento"/>
              </a:rPr>
              <a:t>Name</a:t>
            </a:r>
            <a:r>
              <a:rPr lang="en-US" sz="2869">
                <a:solidFill>
                  <a:srgbClr val="FFD9BE"/>
                </a:solidFill>
                <a:latin typeface="Quattrocento"/>
                <a:ea typeface="Quattrocento"/>
                <a:cs typeface="Quattrocento"/>
                <a:sym typeface="Quattrocento"/>
              </a:rPr>
              <a:t> : NAKRANI KRUSHA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2891433" y="2207152"/>
            <a:ext cx="4771915" cy="463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07"/>
              </a:lnSpc>
            </a:pPr>
            <a:r>
              <a:rPr lang="en-US" sz="2869">
                <a:solidFill>
                  <a:srgbClr val="EF9C82"/>
                </a:solidFill>
                <a:latin typeface="Quattrocento"/>
                <a:ea typeface="Quattrocento"/>
                <a:cs typeface="Quattrocento"/>
                <a:sym typeface="Quattrocento"/>
              </a:rPr>
              <a:t>Enroll no. </a:t>
            </a:r>
            <a:r>
              <a:rPr lang="en-US" sz="2869">
                <a:solidFill>
                  <a:srgbClr val="FFD9BE"/>
                </a:solidFill>
                <a:latin typeface="Quattrocento"/>
                <a:ea typeface="Quattrocento"/>
                <a:cs typeface="Quattrocento"/>
                <a:sym typeface="Quattrocento"/>
              </a:rPr>
              <a:t>: 23002170410015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2891433" y="2692439"/>
            <a:ext cx="2005828" cy="463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07"/>
              </a:lnSpc>
            </a:pPr>
            <a:r>
              <a:rPr lang="en-US" sz="2869">
                <a:solidFill>
                  <a:srgbClr val="EF9C82"/>
                </a:solidFill>
                <a:latin typeface="Quattrocento"/>
                <a:ea typeface="Quattrocento"/>
                <a:cs typeface="Quattrocento"/>
                <a:sym typeface="Quattrocento"/>
              </a:rPr>
              <a:t>Branch</a:t>
            </a:r>
            <a:r>
              <a:rPr lang="en-US" sz="2869">
                <a:solidFill>
                  <a:srgbClr val="FFD9BE"/>
                </a:solidFill>
                <a:latin typeface="Quattrocento"/>
                <a:ea typeface="Quattrocento"/>
                <a:cs typeface="Quattrocento"/>
                <a:sym typeface="Quattrocento"/>
              </a:rPr>
              <a:t> : IT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2891433" y="3177726"/>
            <a:ext cx="1498988" cy="463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07"/>
              </a:lnSpc>
            </a:pPr>
            <a:r>
              <a:rPr lang="en-US" sz="2869">
                <a:solidFill>
                  <a:srgbClr val="EF9C82"/>
                </a:solidFill>
                <a:latin typeface="Quattrocento"/>
                <a:ea typeface="Quattrocento"/>
                <a:cs typeface="Quattrocento"/>
                <a:sym typeface="Quattrocento"/>
              </a:rPr>
              <a:t>Div </a:t>
            </a:r>
            <a:r>
              <a:rPr lang="en-US" sz="2869">
                <a:solidFill>
                  <a:srgbClr val="FFD9BE"/>
                </a:solidFill>
                <a:latin typeface="Quattrocento"/>
                <a:ea typeface="Quattrocento"/>
                <a:cs typeface="Quattrocento"/>
                <a:sym typeface="Quattrocento"/>
              </a:rPr>
              <a:t>: C2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2891433" y="3663012"/>
            <a:ext cx="2005828" cy="463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07"/>
              </a:lnSpc>
            </a:pPr>
            <a:r>
              <a:rPr lang="en-US" sz="2869">
                <a:solidFill>
                  <a:srgbClr val="EF9C82"/>
                </a:solidFill>
                <a:latin typeface="Quattrocento"/>
                <a:ea typeface="Quattrocento"/>
                <a:cs typeface="Quattrocento"/>
                <a:sym typeface="Quattrocento"/>
              </a:rPr>
              <a:t>Roll no. </a:t>
            </a:r>
            <a:r>
              <a:rPr lang="en-US" sz="2869">
                <a:solidFill>
                  <a:srgbClr val="FFD9BE"/>
                </a:solidFill>
                <a:latin typeface="Quattrocento"/>
                <a:ea typeface="Quattrocento"/>
                <a:cs typeface="Quattrocento"/>
                <a:sym typeface="Quattrocento"/>
              </a:rPr>
              <a:t>: 40</a:t>
            </a:r>
          </a:p>
        </p:txBody>
      </p:sp>
      <p:grpSp>
        <p:nvGrpSpPr>
          <p:cNvPr id="27" name="Group 27"/>
          <p:cNvGrpSpPr/>
          <p:nvPr/>
        </p:nvGrpSpPr>
        <p:grpSpPr>
          <a:xfrm>
            <a:off x="3165556" y="4892471"/>
            <a:ext cx="4996786" cy="2376447"/>
            <a:chOff x="0" y="0"/>
            <a:chExt cx="10156187" cy="4830233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10156178" cy="4830313"/>
            </a:xfrm>
            <a:custGeom>
              <a:avLst/>
              <a:gdLst/>
              <a:ahLst/>
              <a:cxnLst/>
              <a:rect l="l" t="t" r="r" b="b"/>
              <a:pathLst>
                <a:path w="10156178" h="4830313">
                  <a:moveTo>
                    <a:pt x="0" y="64337"/>
                  </a:moveTo>
                  <a:cubicBezTo>
                    <a:pt x="0" y="28722"/>
                    <a:pt x="24322" y="0"/>
                    <a:pt x="54482" y="0"/>
                  </a:cubicBezTo>
                  <a:lnTo>
                    <a:pt x="10101697" y="0"/>
                  </a:lnTo>
                  <a:cubicBezTo>
                    <a:pt x="10131734" y="0"/>
                    <a:pt x="10156178" y="28722"/>
                    <a:pt x="10156178" y="64337"/>
                  </a:cubicBezTo>
                  <a:lnTo>
                    <a:pt x="10156178" y="4765987"/>
                  </a:lnTo>
                  <a:cubicBezTo>
                    <a:pt x="10156178" y="4801458"/>
                    <a:pt x="10131856" y="4830313"/>
                    <a:pt x="10101697" y="4830313"/>
                  </a:cubicBezTo>
                  <a:lnTo>
                    <a:pt x="54482" y="4830313"/>
                  </a:lnTo>
                  <a:cubicBezTo>
                    <a:pt x="24444" y="4830313"/>
                    <a:pt x="0" y="4801602"/>
                    <a:pt x="0" y="4765987"/>
                  </a:cubicBezTo>
                  <a:close/>
                </a:path>
              </a:pathLst>
            </a:custGeom>
            <a:solidFill>
              <a:srgbClr val="315251"/>
            </a:solidFill>
          </p:spPr>
        </p:sp>
      </p:grpSp>
      <p:sp>
        <p:nvSpPr>
          <p:cNvPr id="29" name="TextBox 29"/>
          <p:cNvSpPr txBox="1"/>
          <p:nvPr/>
        </p:nvSpPr>
        <p:spPr>
          <a:xfrm>
            <a:off x="3390427" y="4897275"/>
            <a:ext cx="4417127" cy="463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07"/>
              </a:lnSpc>
            </a:pPr>
            <a:r>
              <a:rPr lang="en-US" sz="2869" dirty="0">
                <a:solidFill>
                  <a:srgbClr val="EF9C82"/>
                </a:solidFill>
                <a:latin typeface="Quattrocento"/>
                <a:ea typeface="Quattrocento"/>
                <a:cs typeface="Quattrocento"/>
                <a:sym typeface="Quattrocento"/>
              </a:rPr>
              <a:t>Name</a:t>
            </a:r>
            <a:r>
              <a:rPr lang="en-US" sz="2869" dirty="0">
                <a:solidFill>
                  <a:srgbClr val="FFD9BE"/>
                </a:solidFill>
                <a:latin typeface="Quattrocento"/>
                <a:ea typeface="Quattrocento"/>
                <a:cs typeface="Quattrocento"/>
                <a:sym typeface="Quattrocento"/>
              </a:rPr>
              <a:t> :PRINS BHESANIYA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3390427" y="5349182"/>
            <a:ext cx="4771915" cy="463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07"/>
              </a:lnSpc>
            </a:pPr>
            <a:r>
              <a:rPr lang="en-US" sz="2869" dirty="0">
                <a:solidFill>
                  <a:srgbClr val="EF9C82"/>
                </a:solidFill>
                <a:latin typeface="Quattrocento"/>
                <a:ea typeface="Quattrocento"/>
                <a:cs typeface="Quattrocento"/>
                <a:sym typeface="Quattrocento"/>
              </a:rPr>
              <a:t>Enroll no. </a:t>
            </a:r>
            <a:r>
              <a:rPr lang="en-US" sz="2869" dirty="0">
                <a:solidFill>
                  <a:srgbClr val="FFD9BE"/>
                </a:solidFill>
                <a:latin typeface="Quattrocento"/>
                <a:ea typeface="Quattrocento"/>
                <a:cs typeface="Quattrocento"/>
                <a:sym typeface="Quattrocento"/>
              </a:rPr>
              <a:t>: 23002170210010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3390427" y="5834469"/>
            <a:ext cx="2005828" cy="463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07"/>
              </a:lnSpc>
            </a:pPr>
            <a:r>
              <a:rPr lang="en-US" sz="2869">
                <a:solidFill>
                  <a:srgbClr val="EF9C82"/>
                </a:solidFill>
                <a:latin typeface="Quattrocento"/>
                <a:ea typeface="Quattrocento"/>
                <a:cs typeface="Quattrocento"/>
                <a:sym typeface="Quattrocento"/>
              </a:rPr>
              <a:t>Branch</a:t>
            </a:r>
            <a:r>
              <a:rPr lang="en-US" sz="2869">
                <a:solidFill>
                  <a:srgbClr val="FFD9BE"/>
                </a:solidFill>
                <a:latin typeface="Quattrocento"/>
                <a:ea typeface="Quattrocento"/>
                <a:cs typeface="Quattrocento"/>
                <a:sym typeface="Quattrocento"/>
              </a:rPr>
              <a:t> : IT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3390427" y="6319756"/>
            <a:ext cx="1498988" cy="463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07"/>
              </a:lnSpc>
            </a:pPr>
            <a:r>
              <a:rPr lang="en-US" sz="2869">
                <a:solidFill>
                  <a:srgbClr val="EF9C82"/>
                </a:solidFill>
                <a:latin typeface="Quattrocento"/>
                <a:ea typeface="Quattrocento"/>
                <a:cs typeface="Quattrocento"/>
                <a:sym typeface="Quattrocento"/>
              </a:rPr>
              <a:t>Div </a:t>
            </a:r>
            <a:r>
              <a:rPr lang="en-US" sz="2869">
                <a:solidFill>
                  <a:srgbClr val="FFD9BE"/>
                </a:solidFill>
                <a:latin typeface="Quattrocento"/>
                <a:ea typeface="Quattrocento"/>
                <a:cs typeface="Quattrocento"/>
                <a:sym typeface="Quattrocento"/>
              </a:rPr>
              <a:t>: C2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3390427" y="6805042"/>
            <a:ext cx="2005828" cy="463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07"/>
              </a:lnSpc>
            </a:pPr>
            <a:r>
              <a:rPr lang="en-US" sz="2869">
                <a:solidFill>
                  <a:srgbClr val="EF9C82"/>
                </a:solidFill>
                <a:latin typeface="Quattrocento"/>
                <a:ea typeface="Quattrocento"/>
                <a:cs typeface="Quattrocento"/>
                <a:sym typeface="Quattrocento"/>
              </a:rPr>
              <a:t>Roll no. </a:t>
            </a:r>
            <a:r>
              <a:rPr lang="en-US" sz="2869">
                <a:solidFill>
                  <a:srgbClr val="FFD9BE"/>
                </a:solidFill>
                <a:latin typeface="Quattrocento"/>
                <a:ea typeface="Quattrocento"/>
                <a:cs typeface="Quattrocento"/>
                <a:sym typeface="Quattrocento"/>
              </a:rPr>
              <a:t>: 51</a:t>
            </a:r>
          </a:p>
        </p:txBody>
      </p:sp>
      <p:grpSp>
        <p:nvGrpSpPr>
          <p:cNvPr id="34" name="Group 34"/>
          <p:cNvGrpSpPr/>
          <p:nvPr/>
        </p:nvGrpSpPr>
        <p:grpSpPr>
          <a:xfrm>
            <a:off x="9947952" y="4892471"/>
            <a:ext cx="4949309" cy="2376447"/>
            <a:chOff x="0" y="0"/>
            <a:chExt cx="10059688" cy="4830233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10059680" cy="4830313"/>
            </a:xfrm>
            <a:custGeom>
              <a:avLst/>
              <a:gdLst/>
              <a:ahLst/>
              <a:cxnLst/>
              <a:rect l="l" t="t" r="r" b="b"/>
              <a:pathLst>
                <a:path w="10059680" h="4830313">
                  <a:moveTo>
                    <a:pt x="0" y="64337"/>
                  </a:moveTo>
                  <a:cubicBezTo>
                    <a:pt x="0" y="28722"/>
                    <a:pt x="24091" y="0"/>
                    <a:pt x="53964" y="0"/>
                  </a:cubicBezTo>
                  <a:lnTo>
                    <a:pt x="10005716" y="0"/>
                  </a:lnTo>
                  <a:cubicBezTo>
                    <a:pt x="10035468" y="0"/>
                    <a:pt x="10059680" y="28722"/>
                    <a:pt x="10059680" y="64337"/>
                  </a:cubicBezTo>
                  <a:lnTo>
                    <a:pt x="10059680" y="4765987"/>
                  </a:lnTo>
                  <a:cubicBezTo>
                    <a:pt x="10059680" y="4801458"/>
                    <a:pt x="10035588" y="4830313"/>
                    <a:pt x="10005716" y="4830313"/>
                  </a:cubicBezTo>
                  <a:lnTo>
                    <a:pt x="53964" y="4830313"/>
                  </a:lnTo>
                  <a:cubicBezTo>
                    <a:pt x="24211" y="4830313"/>
                    <a:pt x="0" y="4801602"/>
                    <a:pt x="0" y="4765987"/>
                  </a:cubicBezTo>
                  <a:close/>
                </a:path>
              </a:pathLst>
            </a:custGeom>
            <a:solidFill>
              <a:srgbClr val="315251"/>
            </a:solidFill>
          </p:spPr>
        </p:sp>
      </p:grpSp>
      <p:sp>
        <p:nvSpPr>
          <p:cNvPr id="36" name="TextBox 36"/>
          <p:cNvSpPr txBox="1"/>
          <p:nvPr/>
        </p:nvSpPr>
        <p:spPr>
          <a:xfrm>
            <a:off x="10125346" y="4863896"/>
            <a:ext cx="4417127" cy="463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07"/>
              </a:lnSpc>
            </a:pPr>
            <a:r>
              <a:rPr lang="en-US" sz="2869">
                <a:solidFill>
                  <a:srgbClr val="EF9C82"/>
                </a:solidFill>
                <a:latin typeface="Quattrocento"/>
                <a:ea typeface="Quattrocento"/>
                <a:cs typeface="Quattrocento"/>
                <a:sym typeface="Quattrocento"/>
              </a:rPr>
              <a:t>Name</a:t>
            </a:r>
            <a:r>
              <a:rPr lang="en-US" sz="2869">
                <a:solidFill>
                  <a:srgbClr val="FFD9BE"/>
                </a:solidFill>
                <a:latin typeface="Quattrocento"/>
                <a:ea typeface="Quattrocento"/>
                <a:cs typeface="Quattrocento"/>
                <a:sym typeface="Quattrocento"/>
              </a:rPr>
              <a:t> : DARSHAN KIKANI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10125346" y="5349182"/>
            <a:ext cx="4771915" cy="463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07"/>
              </a:lnSpc>
            </a:pPr>
            <a:r>
              <a:rPr lang="en-US" sz="2869">
                <a:solidFill>
                  <a:srgbClr val="EF9C82"/>
                </a:solidFill>
                <a:latin typeface="Quattrocento"/>
                <a:ea typeface="Quattrocento"/>
                <a:cs typeface="Quattrocento"/>
                <a:sym typeface="Quattrocento"/>
              </a:rPr>
              <a:t>Enroll no. </a:t>
            </a:r>
            <a:r>
              <a:rPr lang="en-US" sz="2869">
                <a:solidFill>
                  <a:srgbClr val="FFD9BE"/>
                </a:solidFill>
                <a:latin typeface="Quattrocento"/>
                <a:ea typeface="Quattrocento"/>
                <a:cs typeface="Quattrocento"/>
                <a:sym typeface="Quattrocento"/>
              </a:rPr>
              <a:t>: 23002170210048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10125346" y="5834469"/>
            <a:ext cx="2005828" cy="463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07"/>
              </a:lnSpc>
            </a:pPr>
            <a:r>
              <a:rPr lang="en-US" sz="2869">
                <a:solidFill>
                  <a:srgbClr val="EF9C82"/>
                </a:solidFill>
                <a:latin typeface="Quattrocento"/>
                <a:ea typeface="Quattrocento"/>
                <a:cs typeface="Quattrocento"/>
                <a:sym typeface="Quattrocento"/>
              </a:rPr>
              <a:t>Branch</a:t>
            </a:r>
            <a:r>
              <a:rPr lang="en-US" sz="2869">
                <a:solidFill>
                  <a:srgbClr val="FFD9BE"/>
                </a:solidFill>
                <a:latin typeface="Quattrocento"/>
                <a:ea typeface="Quattrocento"/>
                <a:cs typeface="Quattrocento"/>
                <a:sym typeface="Quattrocento"/>
              </a:rPr>
              <a:t> : IT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10125346" y="6319756"/>
            <a:ext cx="1498988" cy="463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07"/>
              </a:lnSpc>
            </a:pPr>
            <a:r>
              <a:rPr lang="en-US" sz="2869">
                <a:solidFill>
                  <a:srgbClr val="EF9C82"/>
                </a:solidFill>
                <a:latin typeface="Quattrocento"/>
                <a:ea typeface="Quattrocento"/>
                <a:cs typeface="Quattrocento"/>
                <a:sym typeface="Quattrocento"/>
              </a:rPr>
              <a:t>Div </a:t>
            </a:r>
            <a:r>
              <a:rPr lang="en-US" sz="2869">
                <a:solidFill>
                  <a:srgbClr val="FFD9BE"/>
                </a:solidFill>
                <a:latin typeface="Quattrocento"/>
                <a:ea typeface="Quattrocento"/>
                <a:cs typeface="Quattrocento"/>
                <a:sym typeface="Quattrocento"/>
              </a:rPr>
              <a:t>: C2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10125346" y="6805042"/>
            <a:ext cx="2005828" cy="463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07"/>
              </a:lnSpc>
            </a:pPr>
            <a:r>
              <a:rPr lang="en-US" sz="2869">
                <a:solidFill>
                  <a:srgbClr val="EF9C82"/>
                </a:solidFill>
                <a:latin typeface="Quattrocento"/>
                <a:ea typeface="Quattrocento"/>
                <a:cs typeface="Quattrocento"/>
                <a:sym typeface="Quattrocento"/>
              </a:rPr>
              <a:t>Roll no. </a:t>
            </a:r>
            <a:r>
              <a:rPr lang="en-US" sz="2869">
                <a:solidFill>
                  <a:srgbClr val="FFD9BE"/>
                </a:solidFill>
                <a:latin typeface="Quattrocento"/>
                <a:ea typeface="Quattrocento"/>
                <a:cs typeface="Quattrocento"/>
                <a:sym typeface="Quattrocento"/>
              </a:rPr>
              <a:t>: 59</a:t>
            </a:r>
          </a:p>
        </p:txBody>
      </p:sp>
      <p:sp>
        <p:nvSpPr>
          <p:cNvPr id="41" name="Freeform 41"/>
          <p:cNvSpPr/>
          <p:nvPr/>
        </p:nvSpPr>
        <p:spPr>
          <a:xfrm>
            <a:off x="15367609" y="0"/>
            <a:ext cx="2920391" cy="516468"/>
          </a:xfrm>
          <a:custGeom>
            <a:avLst/>
            <a:gdLst/>
            <a:ahLst/>
            <a:cxnLst/>
            <a:rect l="l" t="t" r="r" b="b"/>
            <a:pathLst>
              <a:path w="2920391" h="516468">
                <a:moveTo>
                  <a:pt x="0" y="0"/>
                </a:moveTo>
                <a:lnTo>
                  <a:pt x="2920391" y="0"/>
                </a:lnTo>
                <a:lnTo>
                  <a:pt x="2920391" y="516468"/>
                </a:lnTo>
                <a:lnTo>
                  <a:pt x="0" y="51646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42" name="Freeform 42"/>
          <p:cNvSpPr/>
          <p:nvPr/>
        </p:nvSpPr>
        <p:spPr>
          <a:xfrm>
            <a:off x="0" y="0"/>
            <a:ext cx="494849" cy="516468"/>
          </a:xfrm>
          <a:custGeom>
            <a:avLst/>
            <a:gdLst/>
            <a:ahLst/>
            <a:cxnLst/>
            <a:rect l="l" t="t" r="r" b="b"/>
            <a:pathLst>
              <a:path w="494849" h="516468">
                <a:moveTo>
                  <a:pt x="0" y="0"/>
                </a:moveTo>
                <a:lnTo>
                  <a:pt x="494849" y="0"/>
                </a:lnTo>
                <a:lnTo>
                  <a:pt x="494849" y="516468"/>
                </a:lnTo>
                <a:lnTo>
                  <a:pt x="0" y="51646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b="-1341"/>
            </a:stretch>
          </a:blipFill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C4241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23332"/>
            </a:solidFill>
          </p:spPr>
        </p:sp>
      </p:grpSp>
      <p:sp>
        <p:nvSpPr>
          <p:cNvPr id="6" name="TextBox 6"/>
          <p:cNvSpPr txBox="1"/>
          <p:nvPr/>
        </p:nvSpPr>
        <p:spPr>
          <a:xfrm>
            <a:off x="3284488" y="1396701"/>
            <a:ext cx="11719024" cy="12049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562"/>
              </a:lnSpc>
            </a:pPr>
            <a:r>
              <a:rPr lang="en-US" sz="7625">
                <a:solidFill>
                  <a:srgbClr val="EF9C82"/>
                </a:solidFill>
                <a:latin typeface="Quattrocento"/>
                <a:ea typeface="Quattrocento"/>
                <a:cs typeface="Quattrocento"/>
                <a:sym typeface="Quattrocento"/>
              </a:rPr>
              <a:t>INTRODUCTION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65610" y="3302476"/>
            <a:ext cx="16193690" cy="63844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58342" lvl="1" indent="-379171" algn="l">
              <a:lnSpc>
                <a:spcPts val="5693"/>
              </a:lnSpc>
              <a:buFont typeface="Arial"/>
              <a:buChar char="•"/>
            </a:pPr>
            <a:r>
              <a:rPr lang="en-US" sz="3512">
                <a:solidFill>
                  <a:srgbClr val="F9EEE7"/>
                </a:solidFill>
                <a:latin typeface="Quattrocento"/>
                <a:ea typeface="Quattrocento"/>
                <a:cs typeface="Quattrocento"/>
                <a:sym typeface="Quattrocento"/>
              </a:rPr>
              <a:t>QuickSell is a MERN stack-based online marketplace platform inspired by OLX.</a:t>
            </a:r>
          </a:p>
          <a:p>
            <a:pPr marL="758342" lvl="1" indent="-379171" algn="l">
              <a:lnSpc>
                <a:spcPts val="5693"/>
              </a:lnSpc>
              <a:buFont typeface="Arial"/>
              <a:buChar char="•"/>
            </a:pPr>
            <a:r>
              <a:rPr lang="en-US" sz="3512">
                <a:solidFill>
                  <a:srgbClr val="F9EEE7"/>
                </a:solidFill>
                <a:latin typeface="Quattrocento"/>
                <a:ea typeface="Quattrocento"/>
                <a:cs typeface="Quattrocento"/>
                <a:sym typeface="Quattrocento"/>
              </a:rPr>
              <a:t>It allows users to buy and sell products seamlessly with a modern and user-friendly interface.</a:t>
            </a:r>
          </a:p>
          <a:p>
            <a:pPr marL="758342" lvl="1" indent="-379171" algn="l">
              <a:lnSpc>
                <a:spcPts val="5693"/>
              </a:lnSpc>
              <a:buFont typeface="Arial"/>
              <a:buChar char="•"/>
            </a:pPr>
            <a:r>
              <a:rPr lang="en-US" sz="3512">
                <a:solidFill>
                  <a:srgbClr val="F9EEE7"/>
                </a:solidFill>
                <a:latin typeface="Quattrocento"/>
                <a:ea typeface="Quattrocento"/>
                <a:cs typeface="Quattrocento"/>
                <a:sym typeface="Quattrocento"/>
              </a:rPr>
              <a:t>The platform provides secure authentication, product listings, search, and chat features.</a:t>
            </a:r>
          </a:p>
          <a:p>
            <a:pPr marL="758343" lvl="1" indent="-379172" algn="l">
              <a:lnSpc>
                <a:spcPts val="5695"/>
              </a:lnSpc>
              <a:buFont typeface="Arial"/>
              <a:buChar char="•"/>
            </a:pPr>
            <a:r>
              <a:rPr lang="en-US" sz="3512">
                <a:solidFill>
                  <a:srgbClr val="F9EEE7"/>
                </a:solidFill>
                <a:latin typeface="Quattrocento"/>
                <a:ea typeface="Quattrocento"/>
                <a:cs typeface="Quattrocento"/>
                <a:sym typeface="Quattrocento"/>
              </a:rPr>
              <a:t>Designed to demonstrate full-stack development skills while solving a real-world problem of second-hand product trading.</a:t>
            </a:r>
          </a:p>
          <a:p>
            <a:pPr algn="l">
              <a:lnSpc>
                <a:spcPts val="5693"/>
              </a:lnSpc>
            </a:pPr>
            <a:endParaRPr lang="en-US" sz="3512">
              <a:solidFill>
                <a:srgbClr val="F9EEE7"/>
              </a:solidFill>
              <a:latin typeface="Quattrocento"/>
              <a:ea typeface="Quattrocento"/>
              <a:cs typeface="Quattrocento"/>
              <a:sym typeface="Quattrocento"/>
            </a:endParaRPr>
          </a:p>
        </p:txBody>
      </p:sp>
      <p:sp>
        <p:nvSpPr>
          <p:cNvPr id="8" name="Freeform 8"/>
          <p:cNvSpPr/>
          <p:nvPr/>
        </p:nvSpPr>
        <p:spPr>
          <a:xfrm>
            <a:off x="15367609" y="0"/>
            <a:ext cx="2920391" cy="516468"/>
          </a:xfrm>
          <a:custGeom>
            <a:avLst/>
            <a:gdLst/>
            <a:ahLst/>
            <a:cxnLst/>
            <a:rect l="l" t="t" r="r" b="b"/>
            <a:pathLst>
              <a:path w="2920391" h="516468">
                <a:moveTo>
                  <a:pt x="0" y="0"/>
                </a:moveTo>
                <a:lnTo>
                  <a:pt x="2920391" y="0"/>
                </a:lnTo>
                <a:lnTo>
                  <a:pt x="2920391" y="516468"/>
                </a:lnTo>
                <a:lnTo>
                  <a:pt x="0" y="51646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0" y="0"/>
            <a:ext cx="494849" cy="516468"/>
          </a:xfrm>
          <a:custGeom>
            <a:avLst/>
            <a:gdLst/>
            <a:ahLst/>
            <a:cxnLst/>
            <a:rect l="l" t="t" r="r" b="b"/>
            <a:pathLst>
              <a:path w="494849" h="516468">
                <a:moveTo>
                  <a:pt x="0" y="0"/>
                </a:moveTo>
                <a:lnTo>
                  <a:pt x="494849" y="0"/>
                </a:lnTo>
                <a:lnTo>
                  <a:pt x="494849" y="516468"/>
                </a:lnTo>
                <a:lnTo>
                  <a:pt x="0" y="51646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b="-1341"/>
            </a:stretch>
          </a:blipFill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C4241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23332"/>
            </a:solidFill>
          </p:spPr>
        </p:sp>
      </p:grpSp>
      <p:sp>
        <p:nvSpPr>
          <p:cNvPr id="6" name="TextBox 6"/>
          <p:cNvSpPr txBox="1"/>
          <p:nvPr/>
        </p:nvSpPr>
        <p:spPr>
          <a:xfrm>
            <a:off x="6255098" y="981075"/>
            <a:ext cx="5853856" cy="12019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591"/>
              </a:lnSpc>
            </a:pPr>
            <a:r>
              <a:rPr lang="en-US" sz="7629">
                <a:solidFill>
                  <a:srgbClr val="EF9C82"/>
                </a:solidFill>
                <a:latin typeface="Quattrocento"/>
                <a:ea typeface="Quattrocento"/>
                <a:cs typeface="Quattrocento"/>
                <a:sym typeface="Quattrocento"/>
              </a:rPr>
              <a:t>OBJECTIVES 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671367" y="3415283"/>
            <a:ext cx="5466891" cy="4767865"/>
            <a:chOff x="0" y="0"/>
            <a:chExt cx="6982023" cy="6089264"/>
          </a:xfrm>
        </p:grpSpPr>
        <p:sp>
          <p:nvSpPr>
            <p:cNvPr id="8" name="Freeform 8"/>
            <p:cNvSpPr/>
            <p:nvPr/>
          </p:nvSpPr>
          <p:spPr>
            <a:xfrm>
              <a:off x="25400" y="35724"/>
              <a:ext cx="6931152" cy="6017704"/>
            </a:xfrm>
            <a:custGeom>
              <a:avLst/>
              <a:gdLst/>
              <a:ahLst/>
              <a:cxnLst/>
              <a:rect l="l" t="t" r="r" b="b"/>
              <a:pathLst>
                <a:path w="6931152" h="6017704">
                  <a:moveTo>
                    <a:pt x="0" y="84130"/>
                  </a:moveTo>
                  <a:cubicBezTo>
                    <a:pt x="0" y="37689"/>
                    <a:pt x="26924" y="0"/>
                    <a:pt x="60071" y="0"/>
                  </a:cubicBezTo>
                  <a:lnTo>
                    <a:pt x="6871081" y="0"/>
                  </a:lnTo>
                  <a:cubicBezTo>
                    <a:pt x="6904228" y="0"/>
                    <a:pt x="6931152" y="37689"/>
                    <a:pt x="6931152" y="84130"/>
                  </a:cubicBezTo>
                  <a:lnTo>
                    <a:pt x="6931152" y="5933574"/>
                  </a:lnTo>
                  <a:cubicBezTo>
                    <a:pt x="6931152" y="5980015"/>
                    <a:pt x="6904228" y="6017704"/>
                    <a:pt x="6871081" y="6017704"/>
                  </a:cubicBezTo>
                  <a:lnTo>
                    <a:pt x="60071" y="6017704"/>
                  </a:lnTo>
                  <a:cubicBezTo>
                    <a:pt x="26924" y="6017704"/>
                    <a:pt x="0" y="5980015"/>
                    <a:pt x="0" y="5933574"/>
                  </a:cubicBezTo>
                  <a:close/>
                </a:path>
              </a:pathLst>
            </a:custGeom>
            <a:solidFill>
              <a:srgbClr val="123332"/>
            </a:solidFill>
          </p:spPr>
        </p:sp>
        <p:sp>
          <p:nvSpPr>
            <p:cNvPr id="9" name="Freeform 9"/>
            <p:cNvSpPr/>
            <p:nvPr/>
          </p:nvSpPr>
          <p:spPr>
            <a:xfrm>
              <a:off x="0" y="0"/>
              <a:ext cx="6981952" cy="6089152"/>
            </a:xfrm>
            <a:custGeom>
              <a:avLst/>
              <a:gdLst/>
              <a:ahLst/>
              <a:cxnLst/>
              <a:rect l="l" t="t" r="r" b="b"/>
              <a:pathLst>
                <a:path w="6981952" h="6089152">
                  <a:moveTo>
                    <a:pt x="0" y="119854"/>
                  </a:moveTo>
                  <a:cubicBezTo>
                    <a:pt x="0" y="53586"/>
                    <a:pt x="38354" y="0"/>
                    <a:pt x="85471" y="0"/>
                  </a:cubicBezTo>
                  <a:lnTo>
                    <a:pt x="6896481" y="0"/>
                  </a:lnTo>
                  <a:lnTo>
                    <a:pt x="6896481" y="35724"/>
                  </a:lnTo>
                  <a:lnTo>
                    <a:pt x="6896481" y="0"/>
                  </a:lnTo>
                  <a:cubicBezTo>
                    <a:pt x="6943598" y="0"/>
                    <a:pt x="6981952" y="53586"/>
                    <a:pt x="6981952" y="119854"/>
                  </a:cubicBezTo>
                  <a:lnTo>
                    <a:pt x="6956552" y="119854"/>
                  </a:lnTo>
                  <a:lnTo>
                    <a:pt x="6981952" y="119854"/>
                  </a:lnTo>
                  <a:lnTo>
                    <a:pt x="6981952" y="5969298"/>
                  </a:lnTo>
                  <a:lnTo>
                    <a:pt x="6956552" y="5969298"/>
                  </a:lnTo>
                  <a:lnTo>
                    <a:pt x="6981952" y="5969298"/>
                  </a:lnTo>
                  <a:cubicBezTo>
                    <a:pt x="6981952" y="6035744"/>
                    <a:pt x="6943598" y="6089152"/>
                    <a:pt x="6896481" y="6089152"/>
                  </a:cubicBezTo>
                  <a:lnTo>
                    <a:pt x="6896481" y="6053428"/>
                  </a:lnTo>
                  <a:lnTo>
                    <a:pt x="6896481" y="6089152"/>
                  </a:lnTo>
                  <a:lnTo>
                    <a:pt x="85471" y="6089152"/>
                  </a:lnTo>
                  <a:lnTo>
                    <a:pt x="85471" y="6053428"/>
                  </a:lnTo>
                  <a:lnTo>
                    <a:pt x="85471" y="6089152"/>
                  </a:lnTo>
                  <a:cubicBezTo>
                    <a:pt x="38354" y="6089152"/>
                    <a:pt x="0" y="6035566"/>
                    <a:pt x="0" y="5969298"/>
                  </a:cubicBezTo>
                  <a:lnTo>
                    <a:pt x="0" y="119854"/>
                  </a:lnTo>
                  <a:lnTo>
                    <a:pt x="25400" y="119854"/>
                  </a:lnTo>
                  <a:lnTo>
                    <a:pt x="0" y="119854"/>
                  </a:lnTo>
                  <a:moveTo>
                    <a:pt x="50800" y="119854"/>
                  </a:moveTo>
                  <a:lnTo>
                    <a:pt x="50800" y="5969298"/>
                  </a:lnTo>
                  <a:lnTo>
                    <a:pt x="25400" y="5969298"/>
                  </a:lnTo>
                  <a:lnTo>
                    <a:pt x="50800" y="5969298"/>
                  </a:lnTo>
                  <a:cubicBezTo>
                    <a:pt x="50800" y="5995912"/>
                    <a:pt x="66294" y="6017704"/>
                    <a:pt x="85471" y="6017704"/>
                  </a:cubicBezTo>
                  <a:lnTo>
                    <a:pt x="6896481" y="6017704"/>
                  </a:lnTo>
                  <a:cubicBezTo>
                    <a:pt x="6915785" y="6017704"/>
                    <a:pt x="6931152" y="5995912"/>
                    <a:pt x="6931152" y="5969298"/>
                  </a:cubicBezTo>
                  <a:lnTo>
                    <a:pt x="6931152" y="119854"/>
                  </a:lnTo>
                  <a:cubicBezTo>
                    <a:pt x="6931152" y="93240"/>
                    <a:pt x="6915658" y="71448"/>
                    <a:pt x="6896481" y="71448"/>
                  </a:cubicBezTo>
                  <a:lnTo>
                    <a:pt x="85471" y="71448"/>
                  </a:lnTo>
                  <a:lnTo>
                    <a:pt x="85471" y="35724"/>
                  </a:lnTo>
                  <a:lnTo>
                    <a:pt x="85471" y="71448"/>
                  </a:lnTo>
                  <a:cubicBezTo>
                    <a:pt x="66294" y="71448"/>
                    <a:pt x="50800" y="93240"/>
                    <a:pt x="50800" y="119854"/>
                  </a:cubicBezTo>
                  <a:close/>
                </a:path>
              </a:pathLst>
            </a:custGeom>
            <a:solidFill>
              <a:srgbClr val="4A6B6A"/>
            </a:solidFill>
          </p:spPr>
        </p:sp>
      </p:grpSp>
      <p:grpSp>
        <p:nvGrpSpPr>
          <p:cNvPr id="10" name="Group 10"/>
          <p:cNvGrpSpPr/>
          <p:nvPr/>
        </p:nvGrpSpPr>
        <p:grpSpPr>
          <a:xfrm>
            <a:off x="690634" y="3435171"/>
            <a:ext cx="79552" cy="3350210"/>
            <a:chOff x="0" y="0"/>
            <a:chExt cx="101600" cy="427871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01600" cy="4278757"/>
            </a:xfrm>
            <a:custGeom>
              <a:avLst/>
              <a:gdLst/>
              <a:ahLst/>
              <a:cxnLst/>
              <a:rect l="l" t="t" r="r" b="b"/>
              <a:pathLst>
                <a:path w="101600" h="4278757">
                  <a:moveTo>
                    <a:pt x="0" y="50800"/>
                  </a:moveTo>
                  <a:cubicBezTo>
                    <a:pt x="0" y="22733"/>
                    <a:pt x="22733" y="0"/>
                    <a:pt x="50800" y="0"/>
                  </a:cubicBezTo>
                  <a:cubicBezTo>
                    <a:pt x="78867" y="0"/>
                    <a:pt x="101600" y="22733"/>
                    <a:pt x="101600" y="50800"/>
                  </a:cubicBezTo>
                  <a:lnTo>
                    <a:pt x="101600" y="4227957"/>
                  </a:lnTo>
                  <a:cubicBezTo>
                    <a:pt x="101600" y="4256024"/>
                    <a:pt x="78867" y="4278757"/>
                    <a:pt x="50800" y="4278757"/>
                  </a:cubicBezTo>
                  <a:cubicBezTo>
                    <a:pt x="22733" y="4278757"/>
                    <a:pt x="0" y="4256024"/>
                    <a:pt x="0" y="4227957"/>
                  </a:cubicBezTo>
                  <a:close/>
                </a:path>
              </a:pathLst>
            </a:custGeom>
            <a:solidFill>
              <a:srgbClr val="EF9C82"/>
            </a:solidFill>
          </p:spPr>
        </p:sp>
      </p:grpSp>
      <p:sp>
        <p:nvSpPr>
          <p:cNvPr id="12" name="TextBox 12"/>
          <p:cNvSpPr txBox="1"/>
          <p:nvPr/>
        </p:nvSpPr>
        <p:spPr>
          <a:xfrm>
            <a:off x="1122267" y="3758677"/>
            <a:ext cx="4266691" cy="6318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985"/>
              </a:lnSpc>
            </a:pPr>
            <a:r>
              <a:rPr lang="en-US" sz="3988">
                <a:solidFill>
                  <a:srgbClr val="F9EEE7"/>
                </a:solidFill>
                <a:latin typeface="Quattrocento"/>
                <a:ea typeface="Quattrocento"/>
                <a:cs typeface="Quattrocento"/>
                <a:sym typeface="Quattrocento"/>
              </a:rPr>
              <a:t>Secure &amp; Scalable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122267" y="4904924"/>
            <a:ext cx="4643401" cy="28464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592"/>
              </a:lnSpc>
            </a:pPr>
            <a:r>
              <a:rPr lang="en-US" sz="2831">
                <a:solidFill>
                  <a:srgbClr val="F9EEE7"/>
                </a:solidFill>
                <a:latin typeface="Quattrocento"/>
                <a:ea typeface="Quattrocento"/>
                <a:cs typeface="Quattrocento"/>
                <a:sym typeface="Quattrocento"/>
              </a:rPr>
              <a:t>Building a robust, enterprise-grade online classified platform capable of handling high traffic and sensitive data.</a:t>
            </a:r>
          </a:p>
        </p:txBody>
      </p:sp>
      <p:grpSp>
        <p:nvGrpSpPr>
          <p:cNvPr id="14" name="Group 14"/>
          <p:cNvGrpSpPr/>
          <p:nvPr/>
        </p:nvGrpSpPr>
        <p:grpSpPr>
          <a:xfrm>
            <a:off x="6410165" y="3415283"/>
            <a:ext cx="5466891" cy="4767865"/>
            <a:chOff x="0" y="0"/>
            <a:chExt cx="6982023" cy="6089264"/>
          </a:xfrm>
        </p:grpSpPr>
        <p:sp>
          <p:nvSpPr>
            <p:cNvPr id="15" name="Freeform 15"/>
            <p:cNvSpPr/>
            <p:nvPr/>
          </p:nvSpPr>
          <p:spPr>
            <a:xfrm>
              <a:off x="25400" y="35724"/>
              <a:ext cx="6931152" cy="6017704"/>
            </a:xfrm>
            <a:custGeom>
              <a:avLst/>
              <a:gdLst/>
              <a:ahLst/>
              <a:cxnLst/>
              <a:rect l="l" t="t" r="r" b="b"/>
              <a:pathLst>
                <a:path w="6931152" h="6017704">
                  <a:moveTo>
                    <a:pt x="0" y="84130"/>
                  </a:moveTo>
                  <a:cubicBezTo>
                    <a:pt x="0" y="37689"/>
                    <a:pt x="26924" y="0"/>
                    <a:pt x="60071" y="0"/>
                  </a:cubicBezTo>
                  <a:lnTo>
                    <a:pt x="6871081" y="0"/>
                  </a:lnTo>
                  <a:cubicBezTo>
                    <a:pt x="6904228" y="0"/>
                    <a:pt x="6931152" y="37689"/>
                    <a:pt x="6931152" y="84130"/>
                  </a:cubicBezTo>
                  <a:lnTo>
                    <a:pt x="6931152" y="5933574"/>
                  </a:lnTo>
                  <a:cubicBezTo>
                    <a:pt x="6931152" y="5980015"/>
                    <a:pt x="6904228" y="6017704"/>
                    <a:pt x="6871081" y="6017704"/>
                  </a:cubicBezTo>
                  <a:lnTo>
                    <a:pt x="60071" y="6017704"/>
                  </a:lnTo>
                  <a:cubicBezTo>
                    <a:pt x="26924" y="6017704"/>
                    <a:pt x="0" y="5980015"/>
                    <a:pt x="0" y="5933574"/>
                  </a:cubicBezTo>
                  <a:close/>
                </a:path>
              </a:pathLst>
            </a:custGeom>
            <a:solidFill>
              <a:srgbClr val="123332"/>
            </a:solidFill>
          </p:spPr>
        </p:sp>
        <p:sp>
          <p:nvSpPr>
            <p:cNvPr id="16" name="Freeform 16"/>
            <p:cNvSpPr/>
            <p:nvPr/>
          </p:nvSpPr>
          <p:spPr>
            <a:xfrm>
              <a:off x="0" y="0"/>
              <a:ext cx="6981952" cy="6089152"/>
            </a:xfrm>
            <a:custGeom>
              <a:avLst/>
              <a:gdLst/>
              <a:ahLst/>
              <a:cxnLst/>
              <a:rect l="l" t="t" r="r" b="b"/>
              <a:pathLst>
                <a:path w="6981952" h="6089152">
                  <a:moveTo>
                    <a:pt x="0" y="119854"/>
                  </a:moveTo>
                  <a:cubicBezTo>
                    <a:pt x="0" y="53586"/>
                    <a:pt x="38354" y="0"/>
                    <a:pt x="85471" y="0"/>
                  </a:cubicBezTo>
                  <a:lnTo>
                    <a:pt x="6896481" y="0"/>
                  </a:lnTo>
                  <a:lnTo>
                    <a:pt x="6896481" y="35724"/>
                  </a:lnTo>
                  <a:lnTo>
                    <a:pt x="6896481" y="0"/>
                  </a:lnTo>
                  <a:cubicBezTo>
                    <a:pt x="6943598" y="0"/>
                    <a:pt x="6981952" y="53586"/>
                    <a:pt x="6981952" y="119854"/>
                  </a:cubicBezTo>
                  <a:lnTo>
                    <a:pt x="6956552" y="119854"/>
                  </a:lnTo>
                  <a:lnTo>
                    <a:pt x="6981952" y="119854"/>
                  </a:lnTo>
                  <a:lnTo>
                    <a:pt x="6981952" y="5969298"/>
                  </a:lnTo>
                  <a:lnTo>
                    <a:pt x="6956552" y="5969298"/>
                  </a:lnTo>
                  <a:lnTo>
                    <a:pt x="6981952" y="5969298"/>
                  </a:lnTo>
                  <a:cubicBezTo>
                    <a:pt x="6981952" y="6035744"/>
                    <a:pt x="6943598" y="6089152"/>
                    <a:pt x="6896481" y="6089152"/>
                  </a:cubicBezTo>
                  <a:lnTo>
                    <a:pt x="6896481" y="6053428"/>
                  </a:lnTo>
                  <a:lnTo>
                    <a:pt x="6896481" y="6089152"/>
                  </a:lnTo>
                  <a:lnTo>
                    <a:pt x="85471" y="6089152"/>
                  </a:lnTo>
                  <a:lnTo>
                    <a:pt x="85471" y="6053428"/>
                  </a:lnTo>
                  <a:lnTo>
                    <a:pt x="85471" y="6089152"/>
                  </a:lnTo>
                  <a:cubicBezTo>
                    <a:pt x="38354" y="6089152"/>
                    <a:pt x="0" y="6035566"/>
                    <a:pt x="0" y="5969298"/>
                  </a:cubicBezTo>
                  <a:lnTo>
                    <a:pt x="0" y="119854"/>
                  </a:lnTo>
                  <a:lnTo>
                    <a:pt x="25400" y="119854"/>
                  </a:lnTo>
                  <a:lnTo>
                    <a:pt x="0" y="119854"/>
                  </a:lnTo>
                  <a:moveTo>
                    <a:pt x="50800" y="119854"/>
                  </a:moveTo>
                  <a:lnTo>
                    <a:pt x="50800" y="5969298"/>
                  </a:lnTo>
                  <a:lnTo>
                    <a:pt x="25400" y="5969298"/>
                  </a:lnTo>
                  <a:lnTo>
                    <a:pt x="50800" y="5969298"/>
                  </a:lnTo>
                  <a:cubicBezTo>
                    <a:pt x="50800" y="5995912"/>
                    <a:pt x="66294" y="6017704"/>
                    <a:pt x="85471" y="6017704"/>
                  </a:cubicBezTo>
                  <a:lnTo>
                    <a:pt x="6896481" y="6017704"/>
                  </a:lnTo>
                  <a:cubicBezTo>
                    <a:pt x="6915785" y="6017704"/>
                    <a:pt x="6931152" y="5995912"/>
                    <a:pt x="6931152" y="5969298"/>
                  </a:cubicBezTo>
                  <a:lnTo>
                    <a:pt x="6931152" y="119854"/>
                  </a:lnTo>
                  <a:cubicBezTo>
                    <a:pt x="6931152" y="93240"/>
                    <a:pt x="6915658" y="71448"/>
                    <a:pt x="6896481" y="71448"/>
                  </a:cubicBezTo>
                  <a:lnTo>
                    <a:pt x="85471" y="71448"/>
                  </a:lnTo>
                  <a:lnTo>
                    <a:pt x="85471" y="35724"/>
                  </a:lnTo>
                  <a:lnTo>
                    <a:pt x="85471" y="71448"/>
                  </a:lnTo>
                  <a:cubicBezTo>
                    <a:pt x="66294" y="71448"/>
                    <a:pt x="50800" y="93240"/>
                    <a:pt x="50800" y="119854"/>
                  </a:cubicBezTo>
                  <a:close/>
                </a:path>
              </a:pathLst>
            </a:custGeom>
            <a:solidFill>
              <a:srgbClr val="4A6B6A"/>
            </a:solidFill>
          </p:spPr>
        </p:sp>
      </p:grpSp>
      <p:grpSp>
        <p:nvGrpSpPr>
          <p:cNvPr id="17" name="Group 17"/>
          <p:cNvGrpSpPr/>
          <p:nvPr/>
        </p:nvGrpSpPr>
        <p:grpSpPr>
          <a:xfrm>
            <a:off x="6430053" y="3435171"/>
            <a:ext cx="79552" cy="3350210"/>
            <a:chOff x="0" y="0"/>
            <a:chExt cx="101600" cy="427871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101600" cy="4278757"/>
            </a:xfrm>
            <a:custGeom>
              <a:avLst/>
              <a:gdLst/>
              <a:ahLst/>
              <a:cxnLst/>
              <a:rect l="l" t="t" r="r" b="b"/>
              <a:pathLst>
                <a:path w="101600" h="4278757">
                  <a:moveTo>
                    <a:pt x="0" y="50800"/>
                  </a:moveTo>
                  <a:cubicBezTo>
                    <a:pt x="0" y="22733"/>
                    <a:pt x="22733" y="0"/>
                    <a:pt x="50800" y="0"/>
                  </a:cubicBezTo>
                  <a:cubicBezTo>
                    <a:pt x="78867" y="0"/>
                    <a:pt x="101600" y="22733"/>
                    <a:pt x="101600" y="50800"/>
                  </a:cubicBezTo>
                  <a:lnTo>
                    <a:pt x="101600" y="4227957"/>
                  </a:lnTo>
                  <a:cubicBezTo>
                    <a:pt x="101600" y="4256024"/>
                    <a:pt x="78867" y="4278757"/>
                    <a:pt x="50800" y="4278757"/>
                  </a:cubicBezTo>
                  <a:cubicBezTo>
                    <a:pt x="22733" y="4278757"/>
                    <a:pt x="0" y="4256024"/>
                    <a:pt x="0" y="4227957"/>
                  </a:cubicBezTo>
                  <a:close/>
                </a:path>
              </a:pathLst>
            </a:custGeom>
            <a:solidFill>
              <a:srgbClr val="EF9C82"/>
            </a:solidFill>
          </p:spPr>
        </p:sp>
      </p:grpSp>
      <p:sp>
        <p:nvSpPr>
          <p:cNvPr id="19" name="TextBox 19"/>
          <p:cNvSpPr txBox="1"/>
          <p:nvPr/>
        </p:nvSpPr>
        <p:spPr>
          <a:xfrm>
            <a:off x="6861687" y="3758677"/>
            <a:ext cx="4003762" cy="6318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985"/>
              </a:lnSpc>
            </a:pPr>
            <a:r>
              <a:rPr lang="en-US" sz="3988">
                <a:solidFill>
                  <a:srgbClr val="F9EEE7"/>
                </a:solidFill>
                <a:latin typeface="Quattrocento"/>
                <a:ea typeface="Quattrocento"/>
                <a:cs typeface="Quattrocento"/>
                <a:sym typeface="Quattrocento"/>
              </a:rPr>
              <a:t>User-Friendly UI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6862031" y="4995976"/>
            <a:ext cx="4643401" cy="28464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592"/>
              </a:lnSpc>
            </a:pPr>
            <a:r>
              <a:rPr lang="en-US" sz="2831">
                <a:solidFill>
                  <a:srgbClr val="F9EEE7"/>
                </a:solidFill>
                <a:latin typeface="Quattrocento"/>
                <a:ea typeface="Quattrocento"/>
                <a:cs typeface="Quattrocento"/>
                <a:sym typeface="Quattrocento"/>
              </a:rPr>
              <a:t>Designing an intuitive, responsive user interface that ensures a seamless and engaging experience across all devices.</a:t>
            </a:r>
          </a:p>
        </p:txBody>
      </p:sp>
      <p:grpSp>
        <p:nvGrpSpPr>
          <p:cNvPr id="21" name="Group 21"/>
          <p:cNvGrpSpPr/>
          <p:nvPr/>
        </p:nvGrpSpPr>
        <p:grpSpPr>
          <a:xfrm>
            <a:off x="12149586" y="3415283"/>
            <a:ext cx="5467047" cy="4767865"/>
            <a:chOff x="0" y="0"/>
            <a:chExt cx="6982222" cy="6089264"/>
          </a:xfrm>
        </p:grpSpPr>
        <p:sp>
          <p:nvSpPr>
            <p:cNvPr id="22" name="Freeform 22"/>
            <p:cNvSpPr/>
            <p:nvPr/>
          </p:nvSpPr>
          <p:spPr>
            <a:xfrm>
              <a:off x="25400" y="35724"/>
              <a:ext cx="6931406" cy="6017704"/>
            </a:xfrm>
            <a:custGeom>
              <a:avLst/>
              <a:gdLst/>
              <a:ahLst/>
              <a:cxnLst/>
              <a:rect l="l" t="t" r="r" b="b"/>
              <a:pathLst>
                <a:path w="6931406" h="6017704">
                  <a:moveTo>
                    <a:pt x="0" y="84130"/>
                  </a:moveTo>
                  <a:cubicBezTo>
                    <a:pt x="0" y="37689"/>
                    <a:pt x="26924" y="0"/>
                    <a:pt x="60071" y="0"/>
                  </a:cubicBezTo>
                  <a:lnTo>
                    <a:pt x="6871335" y="0"/>
                  </a:lnTo>
                  <a:cubicBezTo>
                    <a:pt x="6904482" y="0"/>
                    <a:pt x="6931406" y="37689"/>
                    <a:pt x="6931406" y="84130"/>
                  </a:cubicBezTo>
                  <a:lnTo>
                    <a:pt x="6931406" y="5933574"/>
                  </a:lnTo>
                  <a:cubicBezTo>
                    <a:pt x="6931406" y="5980015"/>
                    <a:pt x="6904482" y="6017704"/>
                    <a:pt x="6871335" y="6017704"/>
                  </a:cubicBezTo>
                  <a:lnTo>
                    <a:pt x="60071" y="6017704"/>
                  </a:lnTo>
                  <a:cubicBezTo>
                    <a:pt x="26924" y="6017704"/>
                    <a:pt x="0" y="5980015"/>
                    <a:pt x="0" y="5933574"/>
                  </a:cubicBezTo>
                  <a:close/>
                </a:path>
              </a:pathLst>
            </a:custGeom>
            <a:solidFill>
              <a:srgbClr val="123332"/>
            </a:solidFill>
          </p:spPr>
        </p:sp>
        <p:sp>
          <p:nvSpPr>
            <p:cNvPr id="23" name="Freeform 23"/>
            <p:cNvSpPr/>
            <p:nvPr/>
          </p:nvSpPr>
          <p:spPr>
            <a:xfrm>
              <a:off x="0" y="0"/>
              <a:ext cx="6982206" cy="6089152"/>
            </a:xfrm>
            <a:custGeom>
              <a:avLst/>
              <a:gdLst/>
              <a:ahLst/>
              <a:cxnLst/>
              <a:rect l="l" t="t" r="r" b="b"/>
              <a:pathLst>
                <a:path w="6982206" h="6089152">
                  <a:moveTo>
                    <a:pt x="0" y="119854"/>
                  </a:moveTo>
                  <a:cubicBezTo>
                    <a:pt x="0" y="53586"/>
                    <a:pt x="38354" y="0"/>
                    <a:pt x="85471" y="0"/>
                  </a:cubicBezTo>
                  <a:lnTo>
                    <a:pt x="6896735" y="0"/>
                  </a:lnTo>
                  <a:lnTo>
                    <a:pt x="6896735" y="35724"/>
                  </a:lnTo>
                  <a:lnTo>
                    <a:pt x="6896735" y="0"/>
                  </a:lnTo>
                  <a:cubicBezTo>
                    <a:pt x="6943852" y="0"/>
                    <a:pt x="6982206" y="53586"/>
                    <a:pt x="6982206" y="119854"/>
                  </a:cubicBezTo>
                  <a:lnTo>
                    <a:pt x="6956806" y="119854"/>
                  </a:lnTo>
                  <a:lnTo>
                    <a:pt x="6982206" y="119854"/>
                  </a:lnTo>
                  <a:lnTo>
                    <a:pt x="6982206" y="5969298"/>
                  </a:lnTo>
                  <a:lnTo>
                    <a:pt x="6956806" y="5969298"/>
                  </a:lnTo>
                  <a:lnTo>
                    <a:pt x="6982206" y="5969298"/>
                  </a:lnTo>
                  <a:cubicBezTo>
                    <a:pt x="6982206" y="6035744"/>
                    <a:pt x="6943852" y="6089152"/>
                    <a:pt x="6896735" y="6089152"/>
                  </a:cubicBezTo>
                  <a:lnTo>
                    <a:pt x="6896735" y="6053428"/>
                  </a:lnTo>
                  <a:lnTo>
                    <a:pt x="6896735" y="6089152"/>
                  </a:lnTo>
                  <a:lnTo>
                    <a:pt x="85471" y="6089152"/>
                  </a:lnTo>
                  <a:lnTo>
                    <a:pt x="85471" y="6053428"/>
                  </a:lnTo>
                  <a:lnTo>
                    <a:pt x="85471" y="6089152"/>
                  </a:lnTo>
                  <a:cubicBezTo>
                    <a:pt x="38354" y="6089152"/>
                    <a:pt x="0" y="6035566"/>
                    <a:pt x="0" y="5969298"/>
                  </a:cubicBezTo>
                  <a:lnTo>
                    <a:pt x="0" y="119854"/>
                  </a:lnTo>
                  <a:lnTo>
                    <a:pt x="25400" y="119854"/>
                  </a:lnTo>
                  <a:lnTo>
                    <a:pt x="0" y="119854"/>
                  </a:lnTo>
                  <a:moveTo>
                    <a:pt x="50800" y="119854"/>
                  </a:moveTo>
                  <a:lnTo>
                    <a:pt x="50800" y="5969298"/>
                  </a:lnTo>
                  <a:lnTo>
                    <a:pt x="25400" y="5969298"/>
                  </a:lnTo>
                  <a:lnTo>
                    <a:pt x="50800" y="5969298"/>
                  </a:lnTo>
                  <a:cubicBezTo>
                    <a:pt x="50800" y="5995912"/>
                    <a:pt x="66294" y="6017704"/>
                    <a:pt x="85471" y="6017704"/>
                  </a:cubicBezTo>
                  <a:lnTo>
                    <a:pt x="6896735" y="6017704"/>
                  </a:lnTo>
                  <a:cubicBezTo>
                    <a:pt x="6916039" y="6017704"/>
                    <a:pt x="6931406" y="5995912"/>
                    <a:pt x="6931406" y="5969298"/>
                  </a:cubicBezTo>
                  <a:lnTo>
                    <a:pt x="6931406" y="119854"/>
                  </a:lnTo>
                  <a:cubicBezTo>
                    <a:pt x="6931406" y="93240"/>
                    <a:pt x="6915912" y="71448"/>
                    <a:pt x="6896735" y="71448"/>
                  </a:cubicBezTo>
                  <a:lnTo>
                    <a:pt x="85471" y="71448"/>
                  </a:lnTo>
                  <a:lnTo>
                    <a:pt x="85471" y="35724"/>
                  </a:lnTo>
                  <a:lnTo>
                    <a:pt x="85471" y="71448"/>
                  </a:lnTo>
                  <a:cubicBezTo>
                    <a:pt x="66294" y="71448"/>
                    <a:pt x="50800" y="93240"/>
                    <a:pt x="50800" y="119854"/>
                  </a:cubicBezTo>
                  <a:close/>
                </a:path>
              </a:pathLst>
            </a:custGeom>
            <a:solidFill>
              <a:srgbClr val="4A6B6A"/>
            </a:solidFill>
          </p:spPr>
        </p:sp>
      </p:grpSp>
      <p:grpSp>
        <p:nvGrpSpPr>
          <p:cNvPr id="24" name="Group 24"/>
          <p:cNvGrpSpPr/>
          <p:nvPr/>
        </p:nvGrpSpPr>
        <p:grpSpPr>
          <a:xfrm>
            <a:off x="12169474" y="3435171"/>
            <a:ext cx="79552" cy="3350210"/>
            <a:chOff x="0" y="0"/>
            <a:chExt cx="101600" cy="4278710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101600" cy="4278757"/>
            </a:xfrm>
            <a:custGeom>
              <a:avLst/>
              <a:gdLst/>
              <a:ahLst/>
              <a:cxnLst/>
              <a:rect l="l" t="t" r="r" b="b"/>
              <a:pathLst>
                <a:path w="101600" h="4278757">
                  <a:moveTo>
                    <a:pt x="0" y="50800"/>
                  </a:moveTo>
                  <a:cubicBezTo>
                    <a:pt x="0" y="22733"/>
                    <a:pt x="22733" y="0"/>
                    <a:pt x="50800" y="0"/>
                  </a:cubicBezTo>
                  <a:cubicBezTo>
                    <a:pt x="78867" y="0"/>
                    <a:pt x="101600" y="22733"/>
                    <a:pt x="101600" y="50800"/>
                  </a:cubicBezTo>
                  <a:lnTo>
                    <a:pt x="101600" y="4227957"/>
                  </a:lnTo>
                  <a:cubicBezTo>
                    <a:pt x="101600" y="4256024"/>
                    <a:pt x="78867" y="4278757"/>
                    <a:pt x="50800" y="4278757"/>
                  </a:cubicBezTo>
                  <a:cubicBezTo>
                    <a:pt x="22733" y="4278757"/>
                    <a:pt x="0" y="4256024"/>
                    <a:pt x="0" y="4227957"/>
                  </a:cubicBezTo>
                  <a:close/>
                </a:path>
              </a:pathLst>
            </a:custGeom>
            <a:solidFill>
              <a:srgbClr val="EF9C82"/>
            </a:solidFill>
          </p:spPr>
        </p:sp>
      </p:grpSp>
      <p:sp>
        <p:nvSpPr>
          <p:cNvPr id="26" name="TextBox 26"/>
          <p:cNvSpPr txBox="1"/>
          <p:nvPr/>
        </p:nvSpPr>
        <p:spPr>
          <a:xfrm>
            <a:off x="12375347" y="3758677"/>
            <a:ext cx="5015525" cy="6318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985"/>
              </a:lnSpc>
            </a:pPr>
            <a:r>
              <a:rPr lang="en-US" sz="3988">
                <a:solidFill>
                  <a:srgbClr val="F9EEE7"/>
                </a:solidFill>
                <a:latin typeface="Quattrocento"/>
                <a:ea typeface="Quattrocento"/>
                <a:cs typeface="Quattrocento"/>
                <a:sym typeface="Quattrocento"/>
              </a:rPr>
              <a:t>Efficient Transactions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2561331" y="5029200"/>
            <a:ext cx="4643556" cy="17244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592"/>
              </a:lnSpc>
            </a:pPr>
            <a:r>
              <a:rPr lang="en-US" sz="2831" dirty="0">
                <a:solidFill>
                  <a:srgbClr val="F9EEE7"/>
                </a:solidFill>
                <a:latin typeface="Quattrocento"/>
                <a:ea typeface="Quattrocento"/>
                <a:cs typeface="Quattrocento"/>
                <a:sym typeface="Quattrocento"/>
              </a:rPr>
              <a:t>Streamlining product listing, search and buying &amp; selling processes.</a:t>
            </a:r>
          </a:p>
        </p:txBody>
      </p:sp>
      <p:sp>
        <p:nvSpPr>
          <p:cNvPr id="28" name="Freeform 28"/>
          <p:cNvSpPr/>
          <p:nvPr/>
        </p:nvSpPr>
        <p:spPr>
          <a:xfrm>
            <a:off x="15367609" y="0"/>
            <a:ext cx="2920391" cy="516468"/>
          </a:xfrm>
          <a:custGeom>
            <a:avLst/>
            <a:gdLst/>
            <a:ahLst/>
            <a:cxnLst/>
            <a:rect l="l" t="t" r="r" b="b"/>
            <a:pathLst>
              <a:path w="2920391" h="516468">
                <a:moveTo>
                  <a:pt x="0" y="0"/>
                </a:moveTo>
                <a:lnTo>
                  <a:pt x="2920391" y="0"/>
                </a:lnTo>
                <a:lnTo>
                  <a:pt x="2920391" y="516468"/>
                </a:lnTo>
                <a:lnTo>
                  <a:pt x="0" y="51646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29" name="Freeform 29"/>
          <p:cNvSpPr/>
          <p:nvPr/>
        </p:nvSpPr>
        <p:spPr>
          <a:xfrm>
            <a:off x="0" y="0"/>
            <a:ext cx="494849" cy="516468"/>
          </a:xfrm>
          <a:custGeom>
            <a:avLst/>
            <a:gdLst/>
            <a:ahLst/>
            <a:cxnLst/>
            <a:rect l="l" t="t" r="r" b="b"/>
            <a:pathLst>
              <a:path w="494849" h="516468">
                <a:moveTo>
                  <a:pt x="0" y="0"/>
                </a:moveTo>
                <a:lnTo>
                  <a:pt x="494849" y="0"/>
                </a:lnTo>
                <a:lnTo>
                  <a:pt x="494849" y="516468"/>
                </a:lnTo>
                <a:lnTo>
                  <a:pt x="0" y="51646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b="-1341"/>
            </a:stretch>
          </a:blipFill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C4241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D4241"/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0" y="0"/>
            <a:ext cx="18288000" cy="3740200"/>
            <a:chOff x="0" y="0"/>
            <a:chExt cx="24384000" cy="4986933"/>
          </a:xfrm>
        </p:grpSpPr>
        <p:sp>
          <p:nvSpPr>
            <p:cNvPr id="7" name="Freeform 7" descr="preencoded.png"/>
            <p:cNvSpPr/>
            <p:nvPr/>
          </p:nvSpPr>
          <p:spPr>
            <a:xfrm>
              <a:off x="0" y="0"/>
              <a:ext cx="24384000" cy="4986909"/>
            </a:xfrm>
            <a:custGeom>
              <a:avLst/>
              <a:gdLst/>
              <a:ahLst/>
              <a:cxnLst/>
              <a:rect l="l" t="t" r="r" b="b"/>
              <a:pathLst>
                <a:path w="24384000" h="4986909">
                  <a:moveTo>
                    <a:pt x="0" y="0"/>
                  </a:moveTo>
                  <a:lnTo>
                    <a:pt x="24384000" y="0"/>
                  </a:lnTo>
                  <a:lnTo>
                    <a:pt x="24384000" y="4986909"/>
                  </a:lnTo>
                  <a:lnTo>
                    <a:pt x="0" y="498690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t="-41" b="-42"/>
              </a:stretch>
            </a:blipFill>
          </p:spPr>
        </p:sp>
      </p:grpSp>
      <p:sp>
        <p:nvSpPr>
          <p:cNvPr id="8" name="TextBox 8"/>
          <p:cNvSpPr txBox="1"/>
          <p:nvPr/>
        </p:nvSpPr>
        <p:spPr>
          <a:xfrm>
            <a:off x="0" y="3984703"/>
            <a:ext cx="9001274" cy="12019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591"/>
              </a:lnSpc>
            </a:pPr>
            <a:r>
              <a:rPr lang="en-US" sz="7629">
                <a:solidFill>
                  <a:srgbClr val="EF9C82"/>
                </a:solidFill>
                <a:latin typeface="Quattrocento"/>
                <a:ea typeface="Quattrocento"/>
                <a:cs typeface="Quattrocento"/>
                <a:sym typeface="Quattrocento"/>
              </a:rPr>
              <a:t>OUR TECK STACK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028700" y="5319981"/>
            <a:ext cx="7940062" cy="7450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84356" lvl="1" indent="-292178" algn="l">
              <a:lnSpc>
                <a:spcPts val="6283"/>
              </a:lnSpc>
              <a:buFont typeface="Arial"/>
              <a:buChar char="•"/>
            </a:pPr>
            <a:r>
              <a:rPr lang="en-US" sz="3874" b="1">
                <a:solidFill>
                  <a:srgbClr val="F9EEE7"/>
                </a:solidFill>
                <a:latin typeface="Quattrocento Bold"/>
                <a:ea typeface="Quattrocento Bold"/>
                <a:cs typeface="Quattrocento Bold"/>
                <a:sym typeface="Quattrocento Bold"/>
              </a:rPr>
              <a:t>MongoDB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28700" y="5919093"/>
            <a:ext cx="7940062" cy="7450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84356" lvl="1" indent="-292178" algn="l">
              <a:lnSpc>
                <a:spcPts val="6283"/>
              </a:lnSpc>
              <a:buFont typeface="Arial"/>
              <a:buChar char="•"/>
            </a:pPr>
            <a:r>
              <a:rPr lang="en-US" sz="3874" b="1">
                <a:solidFill>
                  <a:srgbClr val="F9EEE7"/>
                </a:solidFill>
                <a:latin typeface="Quattrocento Bold"/>
                <a:ea typeface="Quattrocento Bold"/>
                <a:cs typeface="Quattrocento Bold"/>
                <a:sym typeface="Quattrocento Bold"/>
              </a:rPr>
              <a:t>Express.js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028700" y="6518205"/>
            <a:ext cx="7940062" cy="7450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84356" lvl="1" indent="-292178" algn="l">
              <a:lnSpc>
                <a:spcPts val="6283"/>
              </a:lnSpc>
              <a:buFont typeface="Arial"/>
              <a:buChar char="•"/>
            </a:pPr>
            <a:r>
              <a:rPr lang="en-US" sz="3874" b="1">
                <a:solidFill>
                  <a:srgbClr val="F9EEE7"/>
                </a:solidFill>
                <a:latin typeface="Quattrocento Bold"/>
                <a:ea typeface="Quattrocento Bold"/>
                <a:cs typeface="Quattrocento Bold"/>
                <a:sym typeface="Quattrocento Bold"/>
              </a:rPr>
              <a:t>React.js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9728044" y="5319981"/>
            <a:ext cx="7940062" cy="7450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84356" lvl="1" indent="-292178" algn="l">
              <a:lnSpc>
                <a:spcPts val="6283"/>
              </a:lnSpc>
              <a:buFont typeface="Arial"/>
              <a:buChar char="•"/>
            </a:pPr>
            <a:r>
              <a:rPr lang="en-US" sz="3874" b="1">
                <a:solidFill>
                  <a:srgbClr val="F9EEE7"/>
                </a:solidFill>
                <a:latin typeface="Quattrocento Bold"/>
                <a:ea typeface="Quattrocento Bold"/>
                <a:cs typeface="Quattrocento Bold"/>
                <a:sym typeface="Quattrocento Bold"/>
              </a:rPr>
              <a:t>Node.js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9728044" y="5919093"/>
            <a:ext cx="7940062" cy="7450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84356" lvl="1" indent="-292178" algn="l">
              <a:lnSpc>
                <a:spcPts val="6283"/>
              </a:lnSpc>
              <a:buFont typeface="Arial"/>
              <a:buChar char="•"/>
            </a:pPr>
            <a:r>
              <a:rPr lang="en-US" sz="3874" b="1">
                <a:solidFill>
                  <a:srgbClr val="F9EEE7"/>
                </a:solidFill>
                <a:latin typeface="Quattrocento Bold"/>
                <a:ea typeface="Quattrocento Bold"/>
                <a:cs typeface="Quattrocento Bold"/>
                <a:sym typeface="Quattrocento Bold"/>
              </a:rPr>
              <a:t>Tailwind CSS</a:t>
            </a:r>
          </a:p>
        </p:txBody>
      </p:sp>
      <p:sp>
        <p:nvSpPr>
          <p:cNvPr id="14" name="Freeform 14"/>
          <p:cNvSpPr/>
          <p:nvPr/>
        </p:nvSpPr>
        <p:spPr>
          <a:xfrm>
            <a:off x="15367609" y="0"/>
            <a:ext cx="2920391" cy="516468"/>
          </a:xfrm>
          <a:custGeom>
            <a:avLst/>
            <a:gdLst/>
            <a:ahLst/>
            <a:cxnLst/>
            <a:rect l="l" t="t" r="r" b="b"/>
            <a:pathLst>
              <a:path w="2920391" h="516468">
                <a:moveTo>
                  <a:pt x="0" y="0"/>
                </a:moveTo>
                <a:lnTo>
                  <a:pt x="2920391" y="0"/>
                </a:lnTo>
                <a:lnTo>
                  <a:pt x="2920391" y="516468"/>
                </a:lnTo>
                <a:lnTo>
                  <a:pt x="0" y="51646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15" name="Freeform 15"/>
          <p:cNvSpPr/>
          <p:nvPr/>
        </p:nvSpPr>
        <p:spPr>
          <a:xfrm>
            <a:off x="0" y="0"/>
            <a:ext cx="494849" cy="516468"/>
          </a:xfrm>
          <a:custGeom>
            <a:avLst/>
            <a:gdLst/>
            <a:ahLst/>
            <a:cxnLst/>
            <a:rect l="l" t="t" r="r" b="b"/>
            <a:pathLst>
              <a:path w="494849" h="516468">
                <a:moveTo>
                  <a:pt x="0" y="0"/>
                </a:moveTo>
                <a:lnTo>
                  <a:pt x="494849" y="0"/>
                </a:lnTo>
                <a:lnTo>
                  <a:pt x="494849" y="516468"/>
                </a:lnTo>
                <a:lnTo>
                  <a:pt x="0" y="51646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b="-1341"/>
            </a:stretch>
          </a:blipFill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C4241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23332"/>
            </a:solidFill>
          </p:spPr>
        </p:sp>
      </p:grpSp>
      <p:sp>
        <p:nvSpPr>
          <p:cNvPr id="6" name="TextBox 6"/>
          <p:cNvSpPr txBox="1"/>
          <p:nvPr/>
        </p:nvSpPr>
        <p:spPr>
          <a:xfrm>
            <a:off x="1028700" y="981075"/>
            <a:ext cx="6077099" cy="12052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565"/>
              </a:lnSpc>
            </a:pPr>
            <a:r>
              <a:rPr lang="en-US" sz="7629">
                <a:solidFill>
                  <a:srgbClr val="EF9C82"/>
                </a:solidFill>
                <a:latin typeface="Quattrocento"/>
                <a:ea typeface="Quattrocento"/>
                <a:cs typeface="Quattrocento"/>
                <a:sym typeface="Quattrocento"/>
              </a:rPr>
              <a:t>Key Features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1028700" y="2528423"/>
            <a:ext cx="5208389" cy="3658492"/>
            <a:chOff x="0" y="0"/>
            <a:chExt cx="6944518" cy="487799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6944487" cy="4877943"/>
            </a:xfrm>
            <a:custGeom>
              <a:avLst/>
              <a:gdLst/>
              <a:ahLst/>
              <a:cxnLst/>
              <a:rect l="l" t="t" r="r" b="b"/>
              <a:pathLst>
                <a:path w="6944487" h="4877943">
                  <a:moveTo>
                    <a:pt x="0" y="56769"/>
                  </a:moveTo>
                  <a:cubicBezTo>
                    <a:pt x="0" y="25400"/>
                    <a:pt x="25400" y="0"/>
                    <a:pt x="56769" y="0"/>
                  </a:cubicBezTo>
                  <a:lnTo>
                    <a:pt x="6887718" y="0"/>
                  </a:lnTo>
                  <a:cubicBezTo>
                    <a:pt x="6919087" y="0"/>
                    <a:pt x="6944487" y="25400"/>
                    <a:pt x="6944487" y="56769"/>
                  </a:cubicBezTo>
                  <a:lnTo>
                    <a:pt x="6944487" y="4821174"/>
                  </a:lnTo>
                  <a:cubicBezTo>
                    <a:pt x="6944487" y="4852543"/>
                    <a:pt x="6919087" y="4877943"/>
                    <a:pt x="6887718" y="4877943"/>
                  </a:cubicBezTo>
                  <a:lnTo>
                    <a:pt x="56769" y="4877943"/>
                  </a:lnTo>
                  <a:cubicBezTo>
                    <a:pt x="25400" y="4877943"/>
                    <a:pt x="0" y="4852543"/>
                    <a:pt x="0" y="4821174"/>
                  </a:cubicBezTo>
                  <a:close/>
                </a:path>
              </a:pathLst>
            </a:custGeom>
            <a:solidFill>
              <a:srgbClr val="315251"/>
            </a:solidFill>
          </p:spPr>
        </p:sp>
      </p:grpSp>
      <p:sp>
        <p:nvSpPr>
          <p:cNvPr id="9" name="TextBox 9"/>
          <p:cNvSpPr txBox="1"/>
          <p:nvPr/>
        </p:nvSpPr>
        <p:spPr>
          <a:xfrm>
            <a:off x="1312961" y="2802118"/>
            <a:ext cx="4639866" cy="5504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64"/>
              </a:lnSpc>
            </a:pPr>
            <a:r>
              <a:rPr lang="en-US" sz="3524" dirty="0">
                <a:solidFill>
                  <a:srgbClr val="F9EEE7"/>
                </a:solidFill>
                <a:latin typeface="Quattrocento"/>
                <a:ea typeface="Quattrocento"/>
                <a:cs typeface="Quattrocento"/>
                <a:sym typeface="Quattrocento"/>
              </a:rPr>
              <a:t>User Authentication 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28700" y="4262419"/>
            <a:ext cx="4116585" cy="9368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15461" lvl="1" indent="-257730" algn="l">
              <a:lnSpc>
                <a:spcPts val="3888"/>
              </a:lnSpc>
              <a:buFont typeface="Arial"/>
              <a:buChar char="•"/>
            </a:pPr>
            <a:r>
              <a:rPr lang="en-US" sz="2387">
                <a:solidFill>
                  <a:srgbClr val="F9EEE7"/>
                </a:solidFill>
                <a:latin typeface="Quattrocento"/>
                <a:ea typeface="Quattrocento"/>
                <a:cs typeface="Quattrocento"/>
                <a:sym typeface="Quattrocento"/>
              </a:rPr>
              <a:t>Secure login/register using JWT or sessions.</a:t>
            </a:r>
          </a:p>
        </p:txBody>
      </p:sp>
      <p:grpSp>
        <p:nvGrpSpPr>
          <p:cNvPr id="11" name="Group 11"/>
          <p:cNvGrpSpPr/>
          <p:nvPr/>
        </p:nvGrpSpPr>
        <p:grpSpPr>
          <a:xfrm>
            <a:off x="6521350" y="2528423"/>
            <a:ext cx="5208389" cy="3658492"/>
            <a:chOff x="0" y="0"/>
            <a:chExt cx="6944518" cy="487799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6944487" cy="4877943"/>
            </a:xfrm>
            <a:custGeom>
              <a:avLst/>
              <a:gdLst/>
              <a:ahLst/>
              <a:cxnLst/>
              <a:rect l="l" t="t" r="r" b="b"/>
              <a:pathLst>
                <a:path w="6944487" h="4877943">
                  <a:moveTo>
                    <a:pt x="0" y="56769"/>
                  </a:moveTo>
                  <a:cubicBezTo>
                    <a:pt x="0" y="25400"/>
                    <a:pt x="25400" y="0"/>
                    <a:pt x="56769" y="0"/>
                  </a:cubicBezTo>
                  <a:lnTo>
                    <a:pt x="6887718" y="0"/>
                  </a:lnTo>
                  <a:cubicBezTo>
                    <a:pt x="6919087" y="0"/>
                    <a:pt x="6944487" y="25400"/>
                    <a:pt x="6944487" y="56769"/>
                  </a:cubicBezTo>
                  <a:lnTo>
                    <a:pt x="6944487" y="4821174"/>
                  </a:lnTo>
                  <a:cubicBezTo>
                    <a:pt x="6944487" y="4852543"/>
                    <a:pt x="6919087" y="4877943"/>
                    <a:pt x="6887718" y="4877943"/>
                  </a:cubicBezTo>
                  <a:lnTo>
                    <a:pt x="56769" y="4877943"/>
                  </a:lnTo>
                  <a:cubicBezTo>
                    <a:pt x="25400" y="4877943"/>
                    <a:pt x="0" y="4852543"/>
                    <a:pt x="0" y="4821174"/>
                  </a:cubicBezTo>
                  <a:close/>
                </a:path>
              </a:pathLst>
            </a:custGeom>
            <a:solidFill>
              <a:srgbClr val="315251"/>
            </a:solidFill>
          </p:spPr>
        </p:sp>
      </p:grpSp>
      <p:sp>
        <p:nvSpPr>
          <p:cNvPr id="13" name="TextBox 13"/>
          <p:cNvSpPr txBox="1"/>
          <p:nvPr/>
        </p:nvSpPr>
        <p:spPr>
          <a:xfrm>
            <a:off x="6826003" y="2810621"/>
            <a:ext cx="3344168" cy="5544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58"/>
              </a:lnSpc>
            </a:pPr>
            <a:r>
              <a:rPr lang="en-US" sz="3519">
                <a:solidFill>
                  <a:srgbClr val="F9EEE7"/>
                </a:solidFill>
                <a:latin typeface="Quattrocento"/>
                <a:ea typeface="Quattrocento"/>
                <a:cs typeface="Quattrocento"/>
                <a:sym typeface="Quattrocento"/>
              </a:rPr>
              <a:t>Product Listing</a:t>
            </a:r>
          </a:p>
        </p:txBody>
      </p:sp>
      <p:grpSp>
        <p:nvGrpSpPr>
          <p:cNvPr id="14" name="Group 14"/>
          <p:cNvGrpSpPr/>
          <p:nvPr/>
        </p:nvGrpSpPr>
        <p:grpSpPr>
          <a:xfrm>
            <a:off x="12014001" y="2528423"/>
            <a:ext cx="5208389" cy="3658492"/>
            <a:chOff x="0" y="0"/>
            <a:chExt cx="6944518" cy="487799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6944487" cy="4877943"/>
            </a:xfrm>
            <a:custGeom>
              <a:avLst/>
              <a:gdLst/>
              <a:ahLst/>
              <a:cxnLst/>
              <a:rect l="l" t="t" r="r" b="b"/>
              <a:pathLst>
                <a:path w="6944487" h="4877943">
                  <a:moveTo>
                    <a:pt x="0" y="56769"/>
                  </a:moveTo>
                  <a:cubicBezTo>
                    <a:pt x="0" y="25400"/>
                    <a:pt x="25400" y="0"/>
                    <a:pt x="56769" y="0"/>
                  </a:cubicBezTo>
                  <a:lnTo>
                    <a:pt x="6887718" y="0"/>
                  </a:lnTo>
                  <a:cubicBezTo>
                    <a:pt x="6919087" y="0"/>
                    <a:pt x="6944487" y="25400"/>
                    <a:pt x="6944487" y="56769"/>
                  </a:cubicBezTo>
                  <a:lnTo>
                    <a:pt x="6944487" y="4821174"/>
                  </a:lnTo>
                  <a:cubicBezTo>
                    <a:pt x="6944487" y="4852543"/>
                    <a:pt x="6919087" y="4877943"/>
                    <a:pt x="6887718" y="4877943"/>
                  </a:cubicBezTo>
                  <a:lnTo>
                    <a:pt x="56769" y="4877943"/>
                  </a:lnTo>
                  <a:cubicBezTo>
                    <a:pt x="25400" y="4877943"/>
                    <a:pt x="0" y="4852543"/>
                    <a:pt x="0" y="4821174"/>
                  </a:cubicBezTo>
                  <a:close/>
                </a:path>
              </a:pathLst>
            </a:custGeom>
            <a:solidFill>
              <a:srgbClr val="315251"/>
            </a:solidFill>
          </p:spPr>
        </p:sp>
      </p:grpSp>
      <p:sp>
        <p:nvSpPr>
          <p:cNvPr id="16" name="TextBox 16"/>
          <p:cNvSpPr txBox="1"/>
          <p:nvPr/>
        </p:nvSpPr>
        <p:spPr>
          <a:xfrm>
            <a:off x="12301239" y="2802094"/>
            <a:ext cx="4087266" cy="11069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58"/>
              </a:lnSpc>
            </a:pPr>
            <a:r>
              <a:rPr lang="en-US" sz="3519">
                <a:solidFill>
                  <a:srgbClr val="F9EEE7"/>
                </a:solidFill>
                <a:latin typeface="Quattrocento"/>
                <a:ea typeface="Quattrocento"/>
                <a:cs typeface="Quattrocento"/>
                <a:sym typeface="Quattrocento"/>
              </a:rPr>
              <a:t>Advanced Search &amp; Filter</a:t>
            </a:r>
          </a:p>
        </p:txBody>
      </p:sp>
      <p:grpSp>
        <p:nvGrpSpPr>
          <p:cNvPr id="17" name="Group 17"/>
          <p:cNvGrpSpPr/>
          <p:nvPr/>
        </p:nvGrpSpPr>
        <p:grpSpPr>
          <a:xfrm>
            <a:off x="1028700" y="6471178"/>
            <a:ext cx="7954715" cy="3203674"/>
            <a:chOff x="0" y="0"/>
            <a:chExt cx="10606287" cy="4271565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10606277" cy="4271645"/>
            </a:xfrm>
            <a:custGeom>
              <a:avLst/>
              <a:gdLst/>
              <a:ahLst/>
              <a:cxnLst/>
              <a:rect l="l" t="t" r="r" b="b"/>
              <a:pathLst>
                <a:path w="10606277" h="4271645">
                  <a:moveTo>
                    <a:pt x="0" y="56896"/>
                  </a:moveTo>
                  <a:cubicBezTo>
                    <a:pt x="0" y="25400"/>
                    <a:pt x="25400" y="0"/>
                    <a:pt x="56896" y="0"/>
                  </a:cubicBezTo>
                  <a:lnTo>
                    <a:pt x="10549382" y="0"/>
                  </a:lnTo>
                  <a:cubicBezTo>
                    <a:pt x="10580750" y="0"/>
                    <a:pt x="10606277" y="25400"/>
                    <a:pt x="10606277" y="56896"/>
                  </a:cubicBezTo>
                  <a:lnTo>
                    <a:pt x="10606277" y="4214749"/>
                  </a:lnTo>
                  <a:cubicBezTo>
                    <a:pt x="10606277" y="4246118"/>
                    <a:pt x="10580877" y="4271645"/>
                    <a:pt x="10549382" y="4271645"/>
                  </a:cubicBezTo>
                  <a:lnTo>
                    <a:pt x="56896" y="4271645"/>
                  </a:lnTo>
                  <a:cubicBezTo>
                    <a:pt x="25527" y="4271645"/>
                    <a:pt x="0" y="4246245"/>
                    <a:pt x="0" y="4214749"/>
                  </a:cubicBezTo>
                  <a:close/>
                </a:path>
              </a:pathLst>
            </a:custGeom>
            <a:solidFill>
              <a:srgbClr val="315251"/>
            </a:solidFill>
          </p:spPr>
        </p:sp>
      </p:grpSp>
      <p:sp>
        <p:nvSpPr>
          <p:cNvPr id="19" name="TextBox 19"/>
          <p:cNvSpPr txBox="1"/>
          <p:nvPr/>
        </p:nvSpPr>
        <p:spPr>
          <a:xfrm>
            <a:off x="1312961" y="6770386"/>
            <a:ext cx="3498800" cy="5544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58"/>
              </a:lnSpc>
            </a:pPr>
            <a:r>
              <a:rPr lang="en-US" sz="3519">
                <a:solidFill>
                  <a:srgbClr val="F9EEE7"/>
                </a:solidFill>
                <a:latin typeface="Quattrocento"/>
                <a:ea typeface="Quattrocento"/>
                <a:cs typeface="Quattrocento"/>
                <a:sym typeface="Quattrocento"/>
              </a:rPr>
              <a:t>Image Upload</a:t>
            </a:r>
          </a:p>
        </p:txBody>
      </p:sp>
      <p:grpSp>
        <p:nvGrpSpPr>
          <p:cNvPr id="20" name="Group 20"/>
          <p:cNvGrpSpPr/>
          <p:nvPr/>
        </p:nvGrpSpPr>
        <p:grpSpPr>
          <a:xfrm>
            <a:off x="9267676" y="6471178"/>
            <a:ext cx="7954715" cy="3203674"/>
            <a:chOff x="0" y="0"/>
            <a:chExt cx="10606287" cy="4271565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10606277" cy="4271645"/>
            </a:xfrm>
            <a:custGeom>
              <a:avLst/>
              <a:gdLst/>
              <a:ahLst/>
              <a:cxnLst/>
              <a:rect l="l" t="t" r="r" b="b"/>
              <a:pathLst>
                <a:path w="10606277" h="4271645">
                  <a:moveTo>
                    <a:pt x="0" y="56896"/>
                  </a:moveTo>
                  <a:cubicBezTo>
                    <a:pt x="0" y="25400"/>
                    <a:pt x="25400" y="0"/>
                    <a:pt x="56896" y="0"/>
                  </a:cubicBezTo>
                  <a:lnTo>
                    <a:pt x="10549382" y="0"/>
                  </a:lnTo>
                  <a:cubicBezTo>
                    <a:pt x="10580750" y="0"/>
                    <a:pt x="10606277" y="25400"/>
                    <a:pt x="10606277" y="56896"/>
                  </a:cubicBezTo>
                  <a:lnTo>
                    <a:pt x="10606277" y="4214749"/>
                  </a:lnTo>
                  <a:cubicBezTo>
                    <a:pt x="10606277" y="4246118"/>
                    <a:pt x="10580877" y="4271645"/>
                    <a:pt x="10549382" y="4271645"/>
                  </a:cubicBezTo>
                  <a:lnTo>
                    <a:pt x="56896" y="4271645"/>
                  </a:lnTo>
                  <a:cubicBezTo>
                    <a:pt x="25527" y="4271645"/>
                    <a:pt x="0" y="4246245"/>
                    <a:pt x="0" y="4214749"/>
                  </a:cubicBezTo>
                  <a:close/>
                </a:path>
              </a:pathLst>
            </a:custGeom>
            <a:solidFill>
              <a:srgbClr val="315251"/>
            </a:solidFill>
          </p:spPr>
        </p:sp>
      </p:grpSp>
      <p:sp>
        <p:nvSpPr>
          <p:cNvPr id="22" name="TextBox 22"/>
          <p:cNvSpPr txBox="1"/>
          <p:nvPr/>
        </p:nvSpPr>
        <p:spPr>
          <a:xfrm>
            <a:off x="9551938" y="6770386"/>
            <a:ext cx="4054256" cy="5544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58"/>
              </a:lnSpc>
            </a:pPr>
            <a:r>
              <a:rPr lang="en-US" sz="3519">
                <a:solidFill>
                  <a:srgbClr val="F9EEE7"/>
                </a:solidFill>
                <a:latin typeface="Quattrocento"/>
                <a:ea typeface="Quattrocento"/>
                <a:cs typeface="Quattrocento"/>
                <a:sym typeface="Quattrocento"/>
              </a:rPr>
              <a:t>Responsive Design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6517366" y="4262419"/>
            <a:ext cx="4363572" cy="14226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15461" lvl="1" indent="-257730" algn="l">
              <a:lnSpc>
                <a:spcPts val="3888"/>
              </a:lnSpc>
              <a:buFont typeface="Arial"/>
              <a:buChar char="•"/>
            </a:pPr>
            <a:r>
              <a:rPr lang="en-US" sz="2387">
                <a:solidFill>
                  <a:srgbClr val="F9EEE7"/>
                </a:solidFill>
                <a:latin typeface="Quattrocento"/>
                <a:ea typeface="Quattrocento"/>
                <a:cs typeface="Quattrocento"/>
                <a:sym typeface="Quattrocento"/>
              </a:rPr>
              <a:t>Users can post ads with details like title, description, price, and images.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2015489" y="4262419"/>
            <a:ext cx="4116585" cy="14226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15461" lvl="1" indent="-257730" algn="l">
              <a:lnSpc>
                <a:spcPts val="3888"/>
              </a:lnSpc>
              <a:buFont typeface="Arial"/>
              <a:buChar char="•"/>
            </a:pPr>
            <a:r>
              <a:rPr lang="en-US" sz="2387">
                <a:solidFill>
                  <a:srgbClr val="F9EEE7"/>
                </a:solidFill>
                <a:latin typeface="Quattrocento"/>
                <a:ea typeface="Quattrocento"/>
                <a:cs typeface="Quattrocento"/>
                <a:sym typeface="Quattrocento"/>
              </a:rPr>
              <a:t>Browse products by category, keywords, or price range.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9267676" y="7601719"/>
            <a:ext cx="6864397" cy="9368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15461" lvl="1" indent="-257730" algn="l">
              <a:lnSpc>
                <a:spcPts val="3888"/>
              </a:lnSpc>
              <a:buFont typeface="Arial"/>
              <a:buChar char="•"/>
            </a:pPr>
            <a:r>
              <a:rPr lang="en-US" sz="2387">
                <a:solidFill>
                  <a:srgbClr val="F9EEE7"/>
                </a:solidFill>
                <a:latin typeface="Quattrocento"/>
                <a:ea typeface="Quattrocento"/>
                <a:cs typeface="Quattrocento"/>
                <a:sym typeface="Quattrocento"/>
              </a:rPr>
              <a:t>Mobile-friendly interface built with React + Tailwind CSS.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028700" y="7601719"/>
            <a:ext cx="6740826" cy="9368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15461" lvl="1" indent="-257730" algn="l">
              <a:lnSpc>
                <a:spcPts val="3888"/>
              </a:lnSpc>
              <a:buFont typeface="Arial"/>
              <a:buChar char="•"/>
            </a:pPr>
            <a:r>
              <a:rPr lang="en-US" sz="2387">
                <a:solidFill>
                  <a:srgbClr val="F9EEE7"/>
                </a:solidFill>
                <a:latin typeface="Quattrocento"/>
                <a:ea typeface="Quattrocento"/>
                <a:cs typeface="Quattrocento"/>
                <a:sym typeface="Quattrocento"/>
              </a:rPr>
              <a:t>Product images stored and displayed for better user experience.</a:t>
            </a:r>
          </a:p>
        </p:txBody>
      </p:sp>
      <p:sp>
        <p:nvSpPr>
          <p:cNvPr id="27" name="Freeform 27"/>
          <p:cNvSpPr/>
          <p:nvPr/>
        </p:nvSpPr>
        <p:spPr>
          <a:xfrm>
            <a:off x="15367609" y="0"/>
            <a:ext cx="2920391" cy="516468"/>
          </a:xfrm>
          <a:custGeom>
            <a:avLst/>
            <a:gdLst/>
            <a:ahLst/>
            <a:cxnLst/>
            <a:rect l="l" t="t" r="r" b="b"/>
            <a:pathLst>
              <a:path w="2920391" h="516468">
                <a:moveTo>
                  <a:pt x="0" y="0"/>
                </a:moveTo>
                <a:lnTo>
                  <a:pt x="2920391" y="0"/>
                </a:lnTo>
                <a:lnTo>
                  <a:pt x="2920391" y="516468"/>
                </a:lnTo>
                <a:lnTo>
                  <a:pt x="0" y="51646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28" name="Freeform 28"/>
          <p:cNvSpPr/>
          <p:nvPr/>
        </p:nvSpPr>
        <p:spPr>
          <a:xfrm>
            <a:off x="0" y="0"/>
            <a:ext cx="494849" cy="516468"/>
          </a:xfrm>
          <a:custGeom>
            <a:avLst/>
            <a:gdLst/>
            <a:ahLst/>
            <a:cxnLst/>
            <a:rect l="l" t="t" r="r" b="b"/>
            <a:pathLst>
              <a:path w="494849" h="516468">
                <a:moveTo>
                  <a:pt x="0" y="0"/>
                </a:moveTo>
                <a:lnTo>
                  <a:pt x="494849" y="0"/>
                </a:lnTo>
                <a:lnTo>
                  <a:pt x="494849" y="516468"/>
                </a:lnTo>
                <a:lnTo>
                  <a:pt x="0" y="51646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b="-1341"/>
            </a:stretch>
          </a:blipFill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C4241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D4241"/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16049019" y="9686925"/>
            <a:ext cx="2153256" cy="514350"/>
            <a:chOff x="0" y="0"/>
            <a:chExt cx="2871008" cy="685800"/>
          </a:xfrm>
        </p:grpSpPr>
        <p:sp>
          <p:nvSpPr>
            <p:cNvPr id="7" name="Freeform 7" descr="preencoded.png">
              <a:hlinkClick r:id="rId2" tooltip="https://gamma.app/?utm_source=made-with-gamma"/>
            </p:cNvPr>
            <p:cNvSpPr/>
            <p:nvPr/>
          </p:nvSpPr>
          <p:spPr>
            <a:xfrm>
              <a:off x="0" y="0"/>
              <a:ext cx="2870962" cy="685800"/>
            </a:xfrm>
            <a:custGeom>
              <a:avLst/>
              <a:gdLst/>
              <a:ahLst/>
              <a:cxnLst/>
              <a:rect l="l" t="t" r="r" b="b"/>
              <a:pathLst>
                <a:path w="2870962" h="685800">
                  <a:moveTo>
                    <a:pt x="0" y="0"/>
                  </a:moveTo>
                  <a:lnTo>
                    <a:pt x="2870962" y="0"/>
                  </a:lnTo>
                  <a:lnTo>
                    <a:pt x="2870962" y="685800"/>
                  </a:lnTo>
                  <a:lnTo>
                    <a:pt x="0" y="685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r="-1"/>
              </a:stretch>
            </a:blipFill>
          </p:spPr>
        </p:sp>
      </p:grpSp>
      <p:grpSp>
        <p:nvGrpSpPr>
          <p:cNvPr id="8" name="Group 8"/>
          <p:cNvGrpSpPr/>
          <p:nvPr/>
        </p:nvGrpSpPr>
        <p:grpSpPr>
          <a:xfrm>
            <a:off x="11430000" y="0"/>
            <a:ext cx="6858000" cy="10287000"/>
            <a:chOff x="0" y="0"/>
            <a:chExt cx="9144000" cy="13716000"/>
          </a:xfrm>
        </p:grpSpPr>
        <p:sp>
          <p:nvSpPr>
            <p:cNvPr id="9" name="Freeform 9" descr="preencoded.png"/>
            <p:cNvSpPr/>
            <p:nvPr/>
          </p:nvSpPr>
          <p:spPr>
            <a:xfrm>
              <a:off x="0" y="0"/>
              <a:ext cx="9144000" cy="13716000"/>
            </a:xfrm>
            <a:custGeom>
              <a:avLst/>
              <a:gdLst/>
              <a:ahLst/>
              <a:cxnLst/>
              <a:rect l="l" t="t" r="r" b="b"/>
              <a:pathLst>
                <a:path w="9144000" h="13716000">
                  <a:moveTo>
                    <a:pt x="0" y="0"/>
                  </a:moveTo>
                  <a:lnTo>
                    <a:pt x="9144000" y="0"/>
                  </a:lnTo>
                  <a:lnTo>
                    <a:pt x="914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</p:sp>
      </p:grpSp>
      <p:sp>
        <p:nvSpPr>
          <p:cNvPr id="10" name="TextBox 10"/>
          <p:cNvSpPr txBox="1"/>
          <p:nvPr/>
        </p:nvSpPr>
        <p:spPr>
          <a:xfrm>
            <a:off x="0" y="1210886"/>
            <a:ext cx="9893454" cy="12019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591"/>
              </a:lnSpc>
            </a:pPr>
            <a:r>
              <a:rPr lang="en-US" sz="7629">
                <a:solidFill>
                  <a:srgbClr val="EF9C82"/>
                </a:solidFill>
                <a:latin typeface="Quattrocento"/>
                <a:ea typeface="Quattrocento"/>
                <a:cs typeface="Quattrocento"/>
                <a:sym typeface="Quattrocento"/>
              </a:rPr>
              <a:t>Future</a:t>
            </a:r>
            <a:r>
              <a:rPr lang="en-US" sz="7629">
                <a:solidFill>
                  <a:srgbClr val="FFD9BE"/>
                </a:solidFill>
                <a:latin typeface="Quattrocento"/>
                <a:ea typeface="Quattrocento"/>
                <a:cs typeface="Quattrocento"/>
                <a:sym typeface="Quattrocento"/>
              </a:rPr>
              <a:t> Enhancement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028699" y="4172232"/>
            <a:ext cx="9335691" cy="19425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84483" lvl="1" indent="-242241" algn="l">
              <a:lnSpc>
                <a:spcPts val="5209"/>
              </a:lnSpc>
              <a:buFont typeface="Arial"/>
              <a:buChar char="•"/>
            </a:pPr>
            <a:r>
              <a:rPr lang="en-US" sz="3212" b="1" dirty="0">
                <a:solidFill>
                  <a:srgbClr val="F9EEE7"/>
                </a:solidFill>
                <a:latin typeface="Quattrocento Bold"/>
                <a:ea typeface="Quattrocento Bold"/>
                <a:cs typeface="Quattrocento Bold"/>
                <a:sym typeface="Quattrocento Bold"/>
              </a:rPr>
              <a:t>Multi-language &amp; Multi-currency Support :</a:t>
            </a:r>
            <a:r>
              <a:rPr lang="en-US" sz="3212" dirty="0">
                <a:solidFill>
                  <a:srgbClr val="F9EEE7"/>
                </a:solidFill>
                <a:latin typeface="Quattrocento"/>
                <a:ea typeface="Quattrocento"/>
                <a:cs typeface="Quattrocento"/>
                <a:sym typeface="Quattrocento"/>
              </a:rPr>
              <a:t> Make the platform accessible to a global audience.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028698" y="6433080"/>
            <a:ext cx="9335691" cy="12853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84483" lvl="1" indent="-242241" algn="l">
              <a:lnSpc>
                <a:spcPts val="5209"/>
              </a:lnSpc>
              <a:buFont typeface="Arial"/>
              <a:buChar char="•"/>
            </a:pPr>
            <a:r>
              <a:rPr lang="en-US" sz="3212" b="1" dirty="0">
                <a:solidFill>
                  <a:srgbClr val="F9EEE7"/>
                </a:solidFill>
                <a:latin typeface="Quattrocento Bold"/>
                <a:ea typeface="Quattrocento Bold"/>
                <a:cs typeface="Quattrocento Bold"/>
                <a:sym typeface="Quattrocento Bold"/>
              </a:rPr>
              <a:t>Wishlist &amp; Favorites :</a:t>
            </a:r>
            <a:r>
              <a:rPr lang="en-US" sz="3212" dirty="0">
                <a:solidFill>
                  <a:srgbClr val="F9EEE7"/>
                </a:solidFill>
                <a:latin typeface="Quattrocento"/>
                <a:ea typeface="Quattrocento"/>
                <a:cs typeface="Quattrocento"/>
                <a:sym typeface="Quattrocento"/>
              </a:rPr>
              <a:t> Let users save products they like for future reference.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28700" y="2559751"/>
            <a:ext cx="9335691" cy="12853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84483" lvl="1" indent="-242241" algn="l">
              <a:lnSpc>
                <a:spcPts val="5209"/>
              </a:lnSpc>
              <a:buFont typeface="Arial"/>
              <a:buChar char="•"/>
            </a:pPr>
            <a:r>
              <a:rPr lang="en-US" sz="3212" b="1" dirty="0">
                <a:solidFill>
                  <a:srgbClr val="F9EEE7"/>
                </a:solidFill>
                <a:latin typeface="Quattrocento Bold"/>
                <a:ea typeface="Quattrocento Bold"/>
                <a:cs typeface="Quattrocento Bold"/>
                <a:sym typeface="Quattrocento Bold"/>
              </a:rPr>
              <a:t>Payment Gateway Integration :</a:t>
            </a:r>
            <a:r>
              <a:rPr lang="en-US" sz="3212" dirty="0">
                <a:solidFill>
                  <a:srgbClr val="F9EEE7"/>
                </a:solidFill>
                <a:latin typeface="Quattrocento"/>
                <a:ea typeface="Quattrocento"/>
                <a:cs typeface="Quattrocento"/>
                <a:sym typeface="Quattrocento"/>
              </a:rPr>
              <a:t> Enable secure online transactions using </a:t>
            </a:r>
            <a:r>
              <a:rPr lang="en-US" sz="3212" dirty="0" err="1">
                <a:solidFill>
                  <a:srgbClr val="F9EEE7"/>
                </a:solidFill>
                <a:latin typeface="Quattrocento"/>
                <a:ea typeface="Quattrocento"/>
                <a:cs typeface="Quattrocento"/>
                <a:sym typeface="Quattrocento"/>
              </a:rPr>
              <a:t>Razorpay</a:t>
            </a:r>
            <a:r>
              <a:rPr lang="en-US" sz="3212" dirty="0">
                <a:solidFill>
                  <a:srgbClr val="F9EEE7"/>
                </a:solidFill>
                <a:latin typeface="Quattrocento"/>
                <a:ea typeface="Quattrocento"/>
                <a:cs typeface="Quattrocento"/>
                <a:sym typeface="Quattrocento"/>
              </a:rPr>
              <a:t>/</a:t>
            </a:r>
            <a:r>
              <a:rPr lang="en-US" sz="3212" dirty="0" err="1">
                <a:solidFill>
                  <a:srgbClr val="F9EEE7"/>
                </a:solidFill>
                <a:latin typeface="Quattrocento"/>
                <a:ea typeface="Quattrocento"/>
                <a:cs typeface="Quattrocento"/>
                <a:sym typeface="Quattrocento"/>
              </a:rPr>
              <a:t>Gpay</a:t>
            </a:r>
            <a:r>
              <a:rPr lang="en-US" sz="3212" dirty="0">
                <a:solidFill>
                  <a:srgbClr val="F9EEE7"/>
                </a:solidFill>
                <a:latin typeface="Quattrocento"/>
                <a:ea typeface="Quattrocento"/>
                <a:cs typeface="Quattrocento"/>
                <a:sym typeface="Quattrocento"/>
              </a:rPr>
              <a:t>.</a:t>
            </a:r>
          </a:p>
        </p:txBody>
      </p:sp>
      <p:sp>
        <p:nvSpPr>
          <p:cNvPr id="15" name="Freeform 15"/>
          <p:cNvSpPr/>
          <p:nvPr/>
        </p:nvSpPr>
        <p:spPr>
          <a:xfrm>
            <a:off x="15367609" y="0"/>
            <a:ext cx="2920391" cy="516468"/>
          </a:xfrm>
          <a:custGeom>
            <a:avLst/>
            <a:gdLst/>
            <a:ahLst/>
            <a:cxnLst/>
            <a:rect l="l" t="t" r="r" b="b"/>
            <a:pathLst>
              <a:path w="2920391" h="516468">
                <a:moveTo>
                  <a:pt x="0" y="0"/>
                </a:moveTo>
                <a:lnTo>
                  <a:pt x="2920391" y="0"/>
                </a:lnTo>
                <a:lnTo>
                  <a:pt x="2920391" y="516468"/>
                </a:lnTo>
                <a:lnTo>
                  <a:pt x="0" y="51646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16" name="Freeform 16"/>
          <p:cNvSpPr/>
          <p:nvPr/>
        </p:nvSpPr>
        <p:spPr>
          <a:xfrm>
            <a:off x="0" y="0"/>
            <a:ext cx="494849" cy="516468"/>
          </a:xfrm>
          <a:custGeom>
            <a:avLst/>
            <a:gdLst/>
            <a:ahLst/>
            <a:cxnLst/>
            <a:rect l="l" t="t" r="r" b="b"/>
            <a:pathLst>
              <a:path w="494849" h="516468">
                <a:moveTo>
                  <a:pt x="0" y="0"/>
                </a:moveTo>
                <a:lnTo>
                  <a:pt x="494849" y="0"/>
                </a:lnTo>
                <a:lnTo>
                  <a:pt x="494849" y="516468"/>
                </a:lnTo>
                <a:lnTo>
                  <a:pt x="0" y="51646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b="-1341"/>
            </a:stretch>
          </a:blipFill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C4241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23332"/>
            </a:solidFill>
          </p:spPr>
        </p:sp>
      </p:grpSp>
      <p:sp>
        <p:nvSpPr>
          <p:cNvPr id="6" name="TextBox 6"/>
          <p:cNvSpPr txBox="1"/>
          <p:nvPr/>
        </p:nvSpPr>
        <p:spPr>
          <a:xfrm>
            <a:off x="1028700" y="1121577"/>
            <a:ext cx="8569821" cy="12019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591"/>
              </a:lnSpc>
            </a:pPr>
            <a:r>
              <a:rPr lang="en-US" sz="7629">
                <a:solidFill>
                  <a:srgbClr val="EF9C82"/>
                </a:solidFill>
                <a:latin typeface="Quattrocento"/>
                <a:ea typeface="Quattrocento"/>
                <a:cs typeface="Quattrocento"/>
                <a:sym typeface="Quattrocento"/>
              </a:rPr>
              <a:t>Conclusion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65610" y="2426008"/>
            <a:ext cx="16193690" cy="65343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82397" lvl="1" indent="-241199" algn="l">
              <a:lnSpc>
                <a:spcPts val="5187"/>
              </a:lnSpc>
              <a:buFont typeface="Arial"/>
              <a:buChar char="•"/>
            </a:pPr>
            <a:r>
              <a:rPr lang="en-US" sz="3200">
                <a:solidFill>
                  <a:srgbClr val="F9EEE7"/>
                </a:solidFill>
                <a:latin typeface="Quattrocento"/>
                <a:ea typeface="Quattrocento"/>
                <a:cs typeface="Quattrocento"/>
                <a:sym typeface="Quattrocento"/>
              </a:rPr>
              <a:t>QuickSell successfully demonstrates the development of a full-stack online marketplace using the MERN stack.</a:t>
            </a:r>
          </a:p>
          <a:p>
            <a:pPr marL="482397" lvl="1" indent="-241199" algn="l">
              <a:lnSpc>
                <a:spcPts val="5187"/>
              </a:lnSpc>
              <a:buFont typeface="Arial"/>
              <a:buChar char="•"/>
            </a:pPr>
            <a:r>
              <a:rPr lang="en-US" sz="3200">
                <a:solidFill>
                  <a:srgbClr val="F9EEE7"/>
                </a:solidFill>
                <a:latin typeface="Quattrocento"/>
                <a:ea typeface="Quattrocento"/>
                <a:cs typeface="Quattrocento"/>
                <a:sym typeface="Quattrocento"/>
              </a:rPr>
              <a:t>It provides a secure, responsive, and user-friendly platform for buying and selling products.</a:t>
            </a:r>
          </a:p>
          <a:p>
            <a:pPr marL="482397" lvl="1" indent="-241199" algn="l">
              <a:lnSpc>
                <a:spcPts val="5187"/>
              </a:lnSpc>
              <a:buFont typeface="Arial"/>
              <a:buChar char="•"/>
            </a:pPr>
            <a:r>
              <a:rPr lang="en-US" sz="3200">
                <a:solidFill>
                  <a:srgbClr val="F9EEE7"/>
                </a:solidFill>
                <a:latin typeface="Quattrocento"/>
                <a:ea typeface="Quattrocento"/>
                <a:cs typeface="Quattrocento"/>
                <a:sym typeface="Quattrocento"/>
              </a:rPr>
              <a:t>The project highlights core features such as authentication, product listing, search, and chat.</a:t>
            </a:r>
          </a:p>
          <a:p>
            <a:pPr marL="482397" lvl="1" indent="-241199" algn="l">
              <a:lnSpc>
                <a:spcPts val="5187"/>
              </a:lnSpc>
              <a:buFont typeface="Arial"/>
              <a:buChar char="•"/>
            </a:pPr>
            <a:r>
              <a:rPr lang="en-US" sz="3200">
                <a:solidFill>
                  <a:srgbClr val="F9EEE7"/>
                </a:solidFill>
                <a:latin typeface="Quattrocento"/>
                <a:ea typeface="Quattrocento"/>
                <a:cs typeface="Quattrocento"/>
                <a:sym typeface="Quattrocento"/>
              </a:rPr>
              <a:t>It showcases practical application of web development skills with real-world use cases.</a:t>
            </a:r>
          </a:p>
          <a:p>
            <a:pPr marL="482397" lvl="1" indent="-241199" algn="l">
              <a:lnSpc>
                <a:spcPts val="5189"/>
              </a:lnSpc>
              <a:buFont typeface="Arial"/>
              <a:buChar char="•"/>
            </a:pPr>
            <a:r>
              <a:rPr lang="en-US" sz="3200">
                <a:solidFill>
                  <a:srgbClr val="F9EEE7"/>
                </a:solidFill>
                <a:latin typeface="Quattrocento"/>
                <a:ea typeface="Quattrocento"/>
                <a:cs typeface="Quattrocento"/>
                <a:sym typeface="Quattrocento"/>
              </a:rPr>
              <a:t>With future enhancements, QuickSell can evolve into a complete e-commerce platform.</a:t>
            </a:r>
          </a:p>
        </p:txBody>
      </p:sp>
      <p:sp>
        <p:nvSpPr>
          <p:cNvPr id="8" name="Freeform 8"/>
          <p:cNvSpPr/>
          <p:nvPr/>
        </p:nvSpPr>
        <p:spPr>
          <a:xfrm>
            <a:off x="15367609" y="0"/>
            <a:ext cx="2920391" cy="516468"/>
          </a:xfrm>
          <a:custGeom>
            <a:avLst/>
            <a:gdLst/>
            <a:ahLst/>
            <a:cxnLst/>
            <a:rect l="l" t="t" r="r" b="b"/>
            <a:pathLst>
              <a:path w="2920391" h="516468">
                <a:moveTo>
                  <a:pt x="0" y="0"/>
                </a:moveTo>
                <a:lnTo>
                  <a:pt x="2920391" y="0"/>
                </a:lnTo>
                <a:lnTo>
                  <a:pt x="2920391" y="516468"/>
                </a:lnTo>
                <a:lnTo>
                  <a:pt x="0" y="51646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0" y="0"/>
            <a:ext cx="494849" cy="516468"/>
          </a:xfrm>
          <a:custGeom>
            <a:avLst/>
            <a:gdLst/>
            <a:ahLst/>
            <a:cxnLst/>
            <a:rect l="l" t="t" r="r" b="b"/>
            <a:pathLst>
              <a:path w="494849" h="516468">
                <a:moveTo>
                  <a:pt x="0" y="0"/>
                </a:moveTo>
                <a:lnTo>
                  <a:pt x="494849" y="0"/>
                </a:lnTo>
                <a:lnTo>
                  <a:pt x="494849" y="516468"/>
                </a:lnTo>
                <a:lnTo>
                  <a:pt x="0" y="51646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b="-1341"/>
            </a:stretch>
          </a:blipFill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23332"/>
            </a:solidFill>
          </p:spPr>
        </p:sp>
      </p:grpSp>
      <p:sp>
        <p:nvSpPr>
          <p:cNvPr id="4" name="TextBox 4"/>
          <p:cNvSpPr txBox="1"/>
          <p:nvPr/>
        </p:nvSpPr>
        <p:spPr>
          <a:xfrm>
            <a:off x="3917142" y="2904672"/>
            <a:ext cx="10960734" cy="22388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7894"/>
              </a:lnSpc>
            </a:pPr>
            <a:r>
              <a:rPr lang="en-US" sz="14234">
                <a:solidFill>
                  <a:srgbClr val="EF9C82"/>
                </a:solidFill>
                <a:latin typeface="Quattrocento"/>
                <a:ea typeface="Quattrocento"/>
                <a:cs typeface="Quattrocento"/>
                <a:sym typeface="Quattrocento"/>
              </a:rPr>
              <a:t>THANK YOU 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313275" y="5095875"/>
            <a:ext cx="8168468" cy="10006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919"/>
              </a:lnSpc>
            </a:pPr>
            <a:r>
              <a:rPr lang="en-US" sz="6299">
                <a:solidFill>
                  <a:srgbClr val="FFD9BE"/>
                </a:solidFill>
                <a:latin typeface="Quattrocento"/>
                <a:ea typeface="Quattrocento"/>
                <a:cs typeface="Quattrocento"/>
                <a:sym typeface="Quattrocento"/>
              </a:rPr>
              <a:t>Keep Buying &amp; Selling</a:t>
            </a:r>
          </a:p>
        </p:txBody>
      </p:sp>
      <p:sp>
        <p:nvSpPr>
          <p:cNvPr id="6" name="Freeform 6"/>
          <p:cNvSpPr/>
          <p:nvPr/>
        </p:nvSpPr>
        <p:spPr>
          <a:xfrm>
            <a:off x="15367609" y="0"/>
            <a:ext cx="2920391" cy="516468"/>
          </a:xfrm>
          <a:custGeom>
            <a:avLst/>
            <a:gdLst/>
            <a:ahLst/>
            <a:cxnLst/>
            <a:rect l="l" t="t" r="r" b="b"/>
            <a:pathLst>
              <a:path w="2920391" h="516468">
                <a:moveTo>
                  <a:pt x="0" y="0"/>
                </a:moveTo>
                <a:lnTo>
                  <a:pt x="2920391" y="0"/>
                </a:lnTo>
                <a:lnTo>
                  <a:pt x="2920391" y="516468"/>
                </a:lnTo>
                <a:lnTo>
                  <a:pt x="0" y="51646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0" y="0"/>
            <a:ext cx="494849" cy="516468"/>
          </a:xfrm>
          <a:custGeom>
            <a:avLst/>
            <a:gdLst/>
            <a:ahLst/>
            <a:cxnLst/>
            <a:rect l="l" t="t" r="r" b="b"/>
            <a:pathLst>
              <a:path w="494849" h="516468">
                <a:moveTo>
                  <a:pt x="0" y="0"/>
                </a:moveTo>
                <a:lnTo>
                  <a:pt x="494849" y="0"/>
                </a:lnTo>
                <a:lnTo>
                  <a:pt x="494849" y="516468"/>
                </a:lnTo>
                <a:lnTo>
                  <a:pt x="0" y="51646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b="-1341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433</Words>
  <Application>Microsoft Office PowerPoint</Application>
  <PresentationFormat>Custom</PresentationFormat>
  <Paragraphs>69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Quattrocento Bold</vt:lpstr>
      <vt:lpstr>Quattrocento</vt:lpstr>
      <vt:lpstr>Calibri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</dc:title>
  <dc:creator>Prince Bhesaniya</dc:creator>
  <cp:lastModifiedBy>Prince Bhesaniya</cp:lastModifiedBy>
  <cp:revision>3</cp:revision>
  <dcterms:created xsi:type="dcterms:W3CDTF">2006-08-16T00:00:00Z</dcterms:created>
  <dcterms:modified xsi:type="dcterms:W3CDTF">2025-08-23T05:19:52Z</dcterms:modified>
  <dc:identifier>DAGwzkmmnUw</dc:identifier>
</cp:coreProperties>
</file>